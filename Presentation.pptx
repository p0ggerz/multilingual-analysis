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71" r:id="rId5"/>
    <p:sldId id="288" r:id="rId6"/>
    <p:sldId id="312" r:id="rId7"/>
    <p:sldId id="277" r:id="rId8"/>
    <p:sldId id="307" r:id="rId9"/>
    <p:sldId id="309" r:id="rId10"/>
    <p:sldId id="310" r:id="rId11"/>
    <p:sldId id="297" r:id="rId12"/>
    <p:sldId id="300" r:id="rId13"/>
    <p:sldId id="301" r:id="rId14"/>
    <p:sldId id="302" r:id="rId15"/>
    <p:sldId id="304" r:id="rId16"/>
    <p:sldId id="293" r:id="rId17"/>
    <p:sldId id="311" r:id="rId18"/>
    <p:sldId id="306" r:id="rId19"/>
    <p:sldId id="272" r:id="rId20"/>
    <p:sldId id="292" r:id="rId21"/>
    <p:sldId id="289" r:id="rId2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Анна Федина" initials="АФ" lastIdx="1" clrIdx="1">
    <p:extLst>
      <p:ext uri="{19B8F6BF-5375-455C-9EA6-DF929625EA0E}">
        <p15:presenceInfo xmlns:p15="http://schemas.microsoft.com/office/powerpoint/2012/main" userId="5f6bd8840d52c57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0F8"/>
    <a:srgbClr val="3965B5"/>
    <a:srgbClr val="31579B"/>
    <a:srgbClr val="B6C3DA"/>
    <a:srgbClr val="FFFFFF"/>
    <a:srgbClr val="264378"/>
    <a:srgbClr val="203864"/>
    <a:srgbClr val="3F60AB"/>
    <a:srgbClr val="4E71BE"/>
    <a:srgbClr val="6A8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93" autoAdjust="0"/>
    <p:restoredTop sz="94795" autoAdjust="0"/>
  </p:normalViewPr>
  <p:slideViewPr>
    <p:cSldViewPr snapToGrid="0" snapToObjects="1">
      <p:cViewPr>
        <p:scale>
          <a:sx n="94" d="100"/>
          <a:sy n="94" d="100"/>
        </p:scale>
        <p:origin x="393" y="51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04/22/2026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48781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6138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41977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1012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6744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05974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38898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26528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8272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04/22/2026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code/huzujun/xiaohongshu-data-mining/input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2068025"/>
            <a:ext cx="9507621" cy="1941095"/>
          </a:xfrm>
        </p:spPr>
        <p:txBody>
          <a:bodyPr>
            <a:no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 примере русскоязычного сегмента Pinterest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китайской платформы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Xiaohongshu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НИУ ВШЭ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 lnSpcReduction="10000"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Нижний Новгород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0800" y="4009120"/>
            <a:ext cx="3098310" cy="40724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Попова Ксения | Федина Анна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 txBox="1">
            <a:spLocks/>
          </p:cNvSpPr>
          <p:nvPr/>
        </p:nvSpPr>
        <p:spPr>
          <a:xfrm>
            <a:off x="1320800" y="4546255"/>
            <a:ext cx="2898697" cy="15281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к.ф.н., старший научный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 языка и мозга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НИУ ВШЭ-НН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А. Ю. Хоменко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 txBox="1">
            <a:spLocks/>
          </p:cNvSpPr>
          <p:nvPr/>
        </p:nvSpPr>
        <p:spPr>
          <a:xfrm>
            <a:off x="7840423" y="4546255"/>
            <a:ext cx="2898697" cy="8084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Соруководитель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приглашенный преподаватель департамента фундаментальной и прикладной лингвистики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А. М. Зинина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41592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11945"/>
            <a:ext cx="2436311" cy="408109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26EB8FE-A7D5-5784-9C66-C2F15F56383D}"/>
              </a:ext>
            </a:extLst>
          </p:cNvPr>
          <p:cNvGrpSpPr/>
          <p:nvPr/>
        </p:nvGrpSpPr>
        <p:grpSpPr>
          <a:xfrm>
            <a:off x="4797622" y="1699443"/>
            <a:ext cx="7067162" cy="4776413"/>
            <a:chOff x="1885160" y="1322584"/>
            <a:chExt cx="8417790" cy="5012763"/>
          </a:xfrm>
        </p:grpSpPr>
        <p:sp>
          <p:nvSpPr>
            <p:cNvPr id="28" name="Полилиния 27"/>
            <p:cNvSpPr/>
            <p:nvPr/>
          </p:nvSpPr>
          <p:spPr>
            <a:xfrm>
              <a:off x="3650207" y="1325286"/>
              <a:ext cx="6652742" cy="1154071"/>
            </a:xfrm>
            <a:custGeom>
              <a:avLst/>
              <a:gdLst>
                <a:gd name="connsiteX0" fmla="*/ 208468 w 1250785"/>
                <a:gd name="connsiteY0" fmla="*/ 0 h 6780999"/>
                <a:gd name="connsiteX1" fmla="*/ 1042317 w 1250785"/>
                <a:gd name="connsiteY1" fmla="*/ 0 h 6780999"/>
                <a:gd name="connsiteX2" fmla="*/ 1250785 w 1250785"/>
                <a:gd name="connsiteY2" fmla="*/ 208468 h 6780999"/>
                <a:gd name="connsiteX3" fmla="*/ 1250785 w 1250785"/>
                <a:gd name="connsiteY3" fmla="*/ 6780999 h 6780999"/>
                <a:gd name="connsiteX4" fmla="*/ 1250785 w 1250785"/>
                <a:gd name="connsiteY4" fmla="*/ 6780999 h 6780999"/>
                <a:gd name="connsiteX5" fmla="*/ 0 w 1250785"/>
                <a:gd name="connsiteY5" fmla="*/ 6780999 h 6780999"/>
                <a:gd name="connsiteX6" fmla="*/ 0 w 1250785"/>
                <a:gd name="connsiteY6" fmla="*/ 6780999 h 6780999"/>
                <a:gd name="connsiteX7" fmla="*/ 0 w 1250785"/>
                <a:gd name="connsiteY7" fmla="*/ 208468 h 6780999"/>
                <a:gd name="connsiteX8" fmla="*/ 208468 w 1250785"/>
                <a:gd name="connsiteY8" fmla="*/ 0 h 67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0785" h="6780999">
                  <a:moveTo>
                    <a:pt x="1250785" y="1130189"/>
                  </a:moveTo>
                  <a:lnTo>
                    <a:pt x="1250785" y="5650810"/>
                  </a:lnTo>
                  <a:cubicBezTo>
                    <a:pt x="1250785" y="6274996"/>
                    <a:pt x="1233569" y="6780996"/>
                    <a:pt x="1212332" y="6780996"/>
                  </a:cubicBezTo>
                  <a:lnTo>
                    <a:pt x="0" y="6780996"/>
                  </a:lnTo>
                  <a:lnTo>
                    <a:pt x="0" y="6780996"/>
                  </a:lnTo>
                  <a:lnTo>
                    <a:pt x="0" y="3"/>
                  </a:lnTo>
                  <a:lnTo>
                    <a:pt x="0" y="3"/>
                  </a:lnTo>
                  <a:lnTo>
                    <a:pt x="1212332" y="3"/>
                  </a:lnTo>
                  <a:cubicBezTo>
                    <a:pt x="1233569" y="3"/>
                    <a:pt x="1250785" y="506003"/>
                    <a:pt x="1250785" y="1130189"/>
                  </a:cubicBezTo>
                  <a:close/>
                </a:path>
              </a:pathLst>
            </a:cu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72488" rIns="72488" bIns="72488" numCol="1" spcCol="1270" anchor="ctr" anchorCtr="0">
              <a:noAutofit/>
            </a:bodyPr>
            <a:lstStyle/>
            <a:p>
              <a:pPr lvl="1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заголовки постов русскоязычного и китаеязычного сегментов Pinterest и </a:t>
              </a:r>
              <a:r>
                <a:rPr lang="ru-RU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Xiaohongshu</a:t>
              </a:r>
              <a:endParaRPr lang="ru-RU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Полилиния 29"/>
            <p:cNvSpPr/>
            <p:nvPr/>
          </p:nvSpPr>
          <p:spPr>
            <a:xfrm>
              <a:off x="3656365" y="2911281"/>
              <a:ext cx="6646584" cy="1168046"/>
            </a:xfrm>
            <a:custGeom>
              <a:avLst/>
              <a:gdLst>
                <a:gd name="connsiteX0" fmla="*/ 194159 w 1164931"/>
                <a:gd name="connsiteY0" fmla="*/ 0 h 6655280"/>
                <a:gd name="connsiteX1" fmla="*/ 970772 w 1164931"/>
                <a:gd name="connsiteY1" fmla="*/ 0 h 6655280"/>
                <a:gd name="connsiteX2" fmla="*/ 1164931 w 1164931"/>
                <a:gd name="connsiteY2" fmla="*/ 194159 h 6655280"/>
                <a:gd name="connsiteX3" fmla="*/ 1164931 w 1164931"/>
                <a:gd name="connsiteY3" fmla="*/ 6655280 h 6655280"/>
                <a:gd name="connsiteX4" fmla="*/ 1164931 w 1164931"/>
                <a:gd name="connsiteY4" fmla="*/ 6655280 h 6655280"/>
                <a:gd name="connsiteX5" fmla="*/ 0 w 1164931"/>
                <a:gd name="connsiteY5" fmla="*/ 6655280 h 6655280"/>
                <a:gd name="connsiteX6" fmla="*/ 0 w 1164931"/>
                <a:gd name="connsiteY6" fmla="*/ 6655280 h 6655280"/>
                <a:gd name="connsiteX7" fmla="*/ 0 w 1164931"/>
                <a:gd name="connsiteY7" fmla="*/ 194159 h 6655280"/>
                <a:gd name="connsiteX8" fmla="*/ 194159 w 1164931"/>
                <a:gd name="connsiteY8" fmla="*/ 0 h 665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4931" h="6655280">
                  <a:moveTo>
                    <a:pt x="1164931" y="1109237"/>
                  </a:moveTo>
                  <a:lnTo>
                    <a:pt x="1164931" y="5546043"/>
                  </a:lnTo>
                  <a:cubicBezTo>
                    <a:pt x="1164931" y="6158656"/>
                    <a:pt x="1149715" y="6655277"/>
                    <a:pt x="1130946" y="6655277"/>
                  </a:cubicBezTo>
                  <a:lnTo>
                    <a:pt x="0" y="6655277"/>
                  </a:lnTo>
                  <a:lnTo>
                    <a:pt x="0" y="6655277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30946" y="3"/>
                  </a:lnTo>
                  <a:cubicBezTo>
                    <a:pt x="1149715" y="3"/>
                    <a:pt x="1164931" y="496624"/>
                    <a:pt x="1164931" y="1109237"/>
                  </a:cubicBezTo>
                  <a:close/>
                </a:path>
              </a:pathLst>
            </a:cu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80000"/>
                <a:hueOff val="174641"/>
                <a:satOff val="-3128"/>
                <a:lumOff val="13293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7" tIns="68297" rIns="68297" bIns="68298" numCol="1" spcCol="1270" anchor="ctr" anchorCtr="0">
              <a:noAutofit/>
            </a:bodyPr>
            <a:lstStyle/>
            <a:p>
              <a:pPr lvl="1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особенности конструирования заголовков в разных  языковых культурах</a:t>
              </a:r>
            </a:p>
          </p:txBody>
        </p:sp>
        <p:sp>
          <p:nvSpPr>
            <p:cNvPr id="32" name="Полилиния 31"/>
            <p:cNvSpPr/>
            <p:nvPr/>
          </p:nvSpPr>
          <p:spPr>
            <a:xfrm>
              <a:off x="3765492" y="4476603"/>
              <a:ext cx="6537458" cy="1161241"/>
            </a:xfrm>
            <a:custGeom>
              <a:avLst/>
              <a:gdLst>
                <a:gd name="connsiteX0" fmla="*/ 197705 w 1186207"/>
                <a:gd name="connsiteY0" fmla="*/ 0 h 6337454"/>
                <a:gd name="connsiteX1" fmla="*/ 988502 w 1186207"/>
                <a:gd name="connsiteY1" fmla="*/ 0 h 6337454"/>
                <a:gd name="connsiteX2" fmla="*/ 1186207 w 1186207"/>
                <a:gd name="connsiteY2" fmla="*/ 197705 h 6337454"/>
                <a:gd name="connsiteX3" fmla="*/ 1186207 w 1186207"/>
                <a:gd name="connsiteY3" fmla="*/ 6337454 h 6337454"/>
                <a:gd name="connsiteX4" fmla="*/ 1186207 w 1186207"/>
                <a:gd name="connsiteY4" fmla="*/ 6337454 h 6337454"/>
                <a:gd name="connsiteX5" fmla="*/ 0 w 1186207"/>
                <a:gd name="connsiteY5" fmla="*/ 6337454 h 6337454"/>
                <a:gd name="connsiteX6" fmla="*/ 0 w 1186207"/>
                <a:gd name="connsiteY6" fmla="*/ 6337454 h 6337454"/>
                <a:gd name="connsiteX7" fmla="*/ 0 w 1186207"/>
                <a:gd name="connsiteY7" fmla="*/ 197705 h 6337454"/>
                <a:gd name="connsiteX8" fmla="*/ 197705 w 1186207"/>
                <a:gd name="connsiteY8" fmla="*/ 0 h 6337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6207" h="6337454">
                  <a:moveTo>
                    <a:pt x="1186207" y="1056265"/>
                  </a:moveTo>
                  <a:lnTo>
                    <a:pt x="1186207" y="5281189"/>
                  </a:lnTo>
                  <a:cubicBezTo>
                    <a:pt x="1186207" y="5864544"/>
                    <a:pt x="1169639" y="6337451"/>
                    <a:pt x="1149202" y="6337451"/>
                  </a:cubicBezTo>
                  <a:lnTo>
                    <a:pt x="0" y="6337451"/>
                  </a:lnTo>
                  <a:lnTo>
                    <a:pt x="0" y="6337451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49202" y="3"/>
                  </a:lnTo>
                  <a:cubicBezTo>
                    <a:pt x="1169639" y="3"/>
                    <a:pt x="1186207" y="472910"/>
                    <a:pt x="1186207" y="1056265"/>
                  </a:cubicBezTo>
                  <a:close/>
                </a:path>
              </a:pathLst>
            </a:cu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80000"/>
                <a:hueOff val="349283"/>
                <a:satOff val="-6256"/>
                <a:lumOff val="26585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7" tIns="69336" rIns="69336" bIns="69337" numCol="1" spcCol="1270" anchor="ctr" anchorCtr="0">
              <a:noAutofit/>
            </a:bodyPr>
            <a:lstStyle/>
            <a:p>
              <a:pPr lvl="1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растущая </a:t>
              </a:r>
              <a:r>
                <a:rPr lang="ru-R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роль</a:t>
              </a:r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социальных сетей </a:t>
              </a:r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в межкультурной коммуникации;</a:t>
              </a:r>
            </a:p>
            <a:p>
              <a:pPr lvl="1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углубляющееся </a:t>
              </a:r>
              <a:r>
                <a:rPr lang="ru-R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сотрудничество</a:t>
              </a:r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России и Китая в культурной, экономической и политической сферах</a:t>
              </a:r>
            </a:p>
          </p:txBody>
        </p:sp>
        <p:sp>
          <p:nvSpPr>
            <p:cNvPr id="31" name="Полилиния 30"/>
            <p:cNvSpPr/>
            <p:nvPr/>
          </p:nvSpPr>
          <p:spPr>
            <a:xfrm>
              <a:off x="1885160" y="4470227"/>
              <a:ext cx="1876785" cy="1865120"/>
            </a:xfrm>
            <a:custGeom>
              <a:avLst/>
              <a:gdLst>
                <a:gd name="connsiteX0" fmla="*/ 0 w 1938371"/>
                <a:gd name="connsiteY0" fmla="*/ 0 h 1450867"/>
                <a:gd name="connsiteX1" fmla="*/ 1212938 w 1938371"/>
                <a:gd name="connsiteY1" fmla="*/ 0 h 1450867"/>
                <a:gd name="connsiteX2" fmla="*/ 1938371 w 1938371"/>
                <a:gd name="connsiteY2" fmla="*/ 725434 h 1450867"/>
                <a:gd name="connsiteX3" fmla="*/ 1212938 w 1938371"/>
                <a:gd name="connsiteY3" fmla="*/ 1450867 h 1450867"/>
                <a:gd name="connsiteX4" fmla="*/ 0 w 1938371"/>
                <a:gd name="connsiteY4" fmla="*/ 1450867 h 1450867"/>
                <a:gd name="connsiteX5" fmla="*/ 725434 w 1938371"/>
                <a:gd name="connsiteY5" fmla="*/ 725434 h 1450867"/>
                <a:gd name="connsiteX6" fmla="*/ 0 w 1938371"/>
                <a:gd name="connsiteY6" fmla="*/ 0 h 1450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8371" h="1450867">
                  <a:moveTo>
                    <a:pt x="1938370" y="0"/>
                  </a:moveTo>
                  <a:lnTo>
                    <a:pt x="1938370" y="907882"/>
                  </a:lnTo>
                  <a:lnTo>
                    <a:pt x="969185" y="1450867"/>
                  </a:lnTo>
                  <a:lnTo>
                    <a:pt x="1" y="907882"/>
                  </a:lnTo>
                  <a:lnTo>
                    <a:pt x="1" y="0"/>
                  </a:lnTo>
                  <a:lnTo>
                    <a:pt x="969185" y="542986"/>
                  </a:lnTo>
                  <a:lnTo>
                    <a:pt x="1938370" y="0"/>
                  </a:lnTo>
                  <a:close/>
                </a:path>
              </a:pathLst>
            </a:custGeom>
            <a:solidFill>
              <a:srgbClr val="3965B5"/>
            </a:solidFill>
            <a:ln>
              <a:noFill/>
            </a:ln>
          </p:spPr>
          <p:style>
            <a:lnRef idx="2">
              <a:schemeClr val="accent1">
                <a:shade val="80000"/>
                <a:hueOff val="349283"/>
                <a:satOff val="-6256"/>
                <a:lumOff val="26585"/>
                <a:alphaOff val="0"/>
              </a:schemeClr>
            </a:lnRef>
            <a:fillRef idx="1">
              <a:schemeClr val="accent1">
                <a:shade val="80000"/>
                <a:hueOff val="349283"/>
                <a:satOff val="-6256"/>
                <a:lumOff val="26585"/>
                <a:alphaOff val="0"/>
              </a:schemeClr>
            </a:fillRef>
            <a:effectRef idx="0">
              <a:schemeClr val="accent1">
                <a:shade val="80000"/>
                <a:hueOff val="349283"/>
                <a:satOff val="-6256"/>
                <a:lumOff val="2658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1" tIns="735594" rIns="10159" bIns="735593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АКТУАЛЬНОСТЬ</a:t>
              </a:r>
            </a:p>
          </p:txBody>
        </p:sp>
        <p:sp>
          <p:nvSpPr>
            <p:cNvPr id="29" name="Полилиния 28"/>
            <p:cNvSpPr/>
            <p:nvPr/>
          </p:nvSpPr>
          <p:spPr>
            <a:xfrm>
              <a:off x="1948626" y="2908578"/>
              <a:ext cx="1702486" cy="1816377"/>
            </a:xfrm>
            <a:custGeom>
              <a:avLst/>
              <a:gdLst>
                <a:gd name="connsiteX0" fmla="*/ 0 w 1924285"/>
                <a:gd name="connsiteY0" fmla="*/ 0 h 1347000"/>
                <a:gd name="connsiteX1" fmla="*/ 1250785 w 1924285"/>
                <a:gd name="connsiteY1" fmla="*/ 0 h 1347000"/>
                <a:gd name="connsiteX2" fmla="*/ 1924285 w 1924285"/>
                <a:gd name="connsiteY2" fmla="*/ 673500 h 1347000"/>
                <a:gd name="connsiteX3" fmla="*/ 1250785 w 1924285"/>
                <a:gd name="connsiteY3" fmla="*/ 1347000 h 1347000"/>
                <a:gd name="connsiteX4" fmla="*/ 0 w 1924285"/>
                <a:gd name="connsiteY4" fmla="*/ 1347000 h 1347000"/>
                <a:gd name="connsiteX5" fmla="*/ 673500 w 1924285"/>
                <a:gd name="connsiteY5" fmla="*/ 673500 h 1347000"/>
                <a:gd name="connsiteX6" fmla="*/ 0 w 1924285"/>
                <a:gd name="connsiteY6" fmla="*/ 0 h 134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4285" h="1347000">
                  <a:moveTo>
                    <a:pt x="1924284" y="0"/>
                  </a:moveTo>
                  <a:lnTo>
                    <a:pt x="1924284" y="875550"/>
                  </a:lnTo>
                  <a:lnTo>
                    <a:pt x="962143" y="1347000"/>
                  </a:lnTo>
                  <a:lnTo>
                    <a:pt x="1" y="875550"/>
                  </a:lnTo>
                  <a:lnTo>
                    <a:pt x="1" y="0"/>
                  </a:lnTo>
                  <a:lnTo>
                    <a:pt x="962143" y="471450"/>
                  </a:lnTo>
                  <a:lnTo>
                    <a:pt x="1924284" y="0"/>
                  </a:lnTo>
                  <a:close/>
                </a:path>
              </a:pathLst>
            </a:custGeom>
            <a:solidFill>
              <a:srgbClr val="31579B"/>
            </a:solidFill>
            <a:ln>
              <a:noFill/>
            </a:ln>
          </p:spPr>
          <p:style>
            <a:lnRef idx="2">
              <a:schemeClr val="accent1">
                <a:shade val="80000"/>
                <a:hueOff val="174641"/>
                <a:satOff val="-3128"/>
                <a:lumOff val="13293"/>
                <a:alphaOff val="0"/>
              </a:schemeClr>
            </a:lnRef>
            <a:fillRef idx="1">
              <a:schemeClr val="accent1">
                <a:shade val="80000"/>
                <a:hueOff val="174641"/>
                <a:satOff val="-3128"/>
                <a:lumOff val="13293"/>
                <a:alphaOff val="0"/>
              </a:schemeClr>
            </a:fillRef>
            <a:effectRef idx="0">
              <a:schemeClr val="accent1">
                <a:shade val="80000"/>
                <a:hueOff val="174641"/>
                <a:satOff val="-3128"/>
                <a:lumOff val="1329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1" tIns="683660" rIns="10160" bIns="68366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600" b="1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ПРЕДМЕТ</a:t>
              </a:r>
            </a:p>
          </p:txBody>
        </p:sp>
        <p:sp>
          <p:nvSpPr>
            <p:cNvPr id="27" name="Полилиния 26"/>
            <p:cNvSpPr/>
            <p:nvPr/>
          </p:nvSpPr>
          <p:spPr>
            <a:xfrm>
              <a:off x="1937236" y="1322584"/>
              <a:ext cx="1706838" cy="1785837"/>
            </a:xfrm>
            <a:custGeom>
              <a:avLst/>
              <a:gdLst>
                <a:gd name="connsiteX0" fmla="*/ 0 w 1924285"/>
                <a:gd name="connsiteY0" fmla="*/ 0 h 1347000"/>
                <a:gd name="connsiteX1" fmla="*/ 1250785 w 1924285"/>
                <a:gd name="connsiteY1" fmla="*/ 0 h 1347000"/>
                <a:gd name="connsiteX2" fmla="*/ 1924285 w 1924285"/>
                <a:gd name="connsiteY2" fmla="*/ 673500 h 1347000"/>
                <a:gd name="connsiteX3" fmla="*/ 1250785 w 1924285"/>
                <a:gd name="connsiteY3" fmla="*/ 1347000 h 1347000"/>
                <a:gd name="connsiteX4" fmla="*/ 0 w 1924285"/>
                <a:gd name="connsiteY4" fmla="*/ 1347000 h 1347000"/>
                <a:gd name="connsiteX5" fmla="*/ 673500 w 1924285"/>
                <a:gd name="connsiteY5" fmla="*/ 673500 h 1347000"/>
                <a:gd name="connsiteX6" fmla="*/ 0 w 1924285"/>
                <a:gd name="connsiteY6" fmla="*/ 0 h 134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4285" h="1347000">
                  <a:moveTo>
                    <a:pt x="1924284" y="0"/>
                  </a:moveTo>
                  <a:lnTo>
                    <a:pt x="1924284" y="875550"/>
                  </a:lnTo>
                  <a:lnTo>
                    <a:pt x="962143" y="1347000"/>
                  </a:lnTo>
                  <a:lnTo>
                    <a:pt x="1" y="875550"/>
                  </a:lnTo>
                  <a:lnTo>
                    <a:pt x="1" y="0"/>
                  </a:lnTo>
                  <a:lnTo>
                    <a:pt x="962143" y="471450"/>
                  </a:lnTo>
                  <a:lnTo>
                    <a:pt x="1924284" y="0"/>
                  </a:lnTo>
                  <a:close/>
                </a:path>
              </a:pathLst>
            </a:cu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1" tIns="683660" rIns="10160" bIns="683661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600" b="1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ОБЪЕКТ</a:t>
              </a:r>
            </a:p>
          </p:txBody>
        </p:sp>
      </p:grpSp>
      <p:sp>
        <p:nvSpPr>
          <p:cNvPr id="12" name="Прямоугольник 11"/>
          <p:cNvSpPr/>
          <p:nvPr/>
        </p:nvSpPr>
        <p:spPr>
          <a:xfrm>
            <a:off x="413469" y="1455088"/>
            <a:ext cx="3887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Box4Text"/>
          <p:cNvSpPr txBox="1">
            <a:spLocks/>
          </p:cNvSpPr>
          <p:nvPr/>
        </p:nvSpPr>
        <p:spPr>
          <a:xfrm>
            <a:off x="515497" y="3901226"/>
            <a:ext cx="3375783" cy="2499574"/>
          </a:xfrm>
          <a:prstGeom prst="rect">
            <a:avLst/>
          </a:prstGeom>
          <a:solidFill>
            <a:srgbClr val="EEF0F8"/>
          </a:solidFill>
        </p:spPr>
        <p:txBody>
          <a:bodyPr vert="horz" lIns="91440" tIns="91440" rIns="91440" bIns="91440" rtlCol="0" anchor="t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МЕДИАДИСКУРС –</a:t>
            </a:r>
          </a:p>
          <a:p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совокупность процессов и продуктов речевой деятельности в сфере массовой коммуникации, формируемая взаимодействием экстралингвистических факторов</a:t>
            </a:r>
          </a:p>
          <a:p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(Добросклонская, 2006:20–23)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065B7-1735-E156-BD39-B78AFB827E39}"/>
              </a:ext>
            </a:extLst>
          </p:cNvPr>
          <p:cNvSpPr txBox="1"/>
          <p:nvPr/>
        </p:nvSpPr>
        <p:spPr>
          <a:xfrm>
            <a:off x="413469" y="1992246"/>
            <a:ext cx="38872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и сравнить лингвистические особенности заголовков постов для визуально-ориентированных платформ Pinterest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Xiaohongshu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9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2" y="524469"/>
            <a:ext cx="2468395" cy="408109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 txBox="1">
            <a:spLocks/>
          </p:cNvSpPr>
          <p:nvPr/>
        </p:nvSpPr>
        <p:spPr>
          <a:xfrm>
            <a:off x="665692" y="1351585"/>
            <a:ext cx="4027667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181427" y="1772003"/>
            <a:ext cx="417321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синтез;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морфологической разметки на базе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Количественный контент-анализ;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Дискурс-анализ;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математической статистики (коэффициент ранговой корреляции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U-критерий Манна-Уитни с поправкой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Беньямини-Хохберга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Контрастивный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</a:t>
            </a:r>
          </a:p>
        </p:txBody>
      </p:sp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 txBox="1">
            <a:spLocks/>
          </p:cNvSpPr>
          <p:nvPr/>
        </p:nvSpPr>
        <p:spPr>
          <a:xfrm>
            <a:off x="7226644" y="1351586"/>
            <a:ext cx="4245110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49585" y="1772003"/>
            <a:ext cx="50459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научно-теоретическую базу: понятия «корпус», «лингвистическая разметка»,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медиадискурс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«социальные сети»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универсальную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схему разметки речевого материала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заголовков постов выбранных социальных сетей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Разметить материал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схеме двумя способами: мануальным и с помощью программного обеспечения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отличительные лингвистические особенности для каждого языка</a:t>
            </a:r>
          </a:p>
        </p:txBody>
      </p:sp>
      <p:sp>
        <p:nvSpPr>
          <p:cNvPr id="4" name="Box3Text">
            <a:extLst>
              <a:ext uri="{FF2B5EF4-FFF2-40B4-BE49-F238E27FC236}">
                <a16:creationId xmlns:a16="http://schemas.microsoft.com/office/drawing/2014/main" id="{05CAB48E-3520-6243-7756-318F41231474}"/>
              </a:ext>
            </a:extLst>
          </p:cNvPr>
          <p:cNvSpPr txBox="1">
            <a:spLocks/>
          </p:cNvSpPr>
          <p:nvPr/>
        </p:nvSpPr>
        <p:spPr>
          <a:xfrm>
            <a:off x="549585" y="5393829"/>
            <a:ext cx="10922169" cy="1143199"/>
          </a:xfrm>
          <a:prstGeom prst="rect">
            <a:avLst/>
          </a:prstGeom>
          <a:solidFill>
            <a:srgbClr val="EEF0F8"/>
          </a:solidFill>
        </p:spPr>
        <p:txBody>
          <a:bodyPr vert="horz" lIns="91440" tIns="91440" rIns="91440" bIns="91440" rtlCol="0" anchor="t">
            <a:noAutofit/>
          </a:bodyPr>
          <a:lstStyle>
            <a:defPPr>
              <a:defRPr lang="en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контрастивное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описание языков может осуществляться на различных уровнях языковой системы: фонологическом, морфологическом, лексическом, фразеологическом, синтаксическом..»</a:t>
            </a:r>
          </a:p>
          <a:p>
            <a:endParaRPr lang="ru-RU" sz="1400" b="1" i="1" dirty="0">
              <a:solidFill>
                <a:srgbClr val="5B3D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(Стернин, 2006:195) </a:t>
            </a:r>
          </a:p>
        </p:txBody>
      </p:sp>
    </p:spTree>
    <p:extLst>
      <p:ext uri="{BB962C8B-B14F-4D97-AF65-F5344CB8AC3E}">
        <p14:creationId xmlns:p14="http://schemas.microsoft.com/office/powerpoint/2010/main" val="311478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BE1F6DB-2C79-0F40-985F-DB8180BAFB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CC9B4C-151F-204A-9B26-BE1838EFB2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26083"/>
            <a:ext cx="2475106" cy="408109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CD81CA-2715-AB4B-A575-27FBCE550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6248A15-8E7E-BC4A-A1F2-4446573B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11" y="1520523"/>
            <a:ext cx="5199081" cy="77702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ЭМПИРИЧЕСКИЙ МАТЕРИАЛ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59A9C6-69C4-5447-8A46-A98387532C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711" y="5609013"/>
            <a:ext cx="7987799" cy="978597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обработка табличных данных: загрузка, очистка, фильтрация и агрегация данных, работа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датафреймами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осуществлялась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**Работа с массивами, вычисления, частотный анализ (IPM) – библиотека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2E3045C9-9734-E1FF-AB0A-9365734F081F}"/>
              </a:ext>
            </a:extLst>
          </p:cNvPr>
          <p:cNvSpPr txBox="1">
            <a:spLocks/>
          </p:cNvSpPr>
          <p:nvPr/>
        </p:nvSpPr>
        <p:spPr>
          <a:xfrm>
            <a:off x="551711" y="2339168"/>
            <a:ext cx="5498214" cy="2957804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Китайский сегмент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ZH,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Xiaohongshu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датасет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Data Mining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Xiaohongshu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aggle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(2021 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Русский сегмент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RU,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Pinterest):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парсинг заголовков с помощью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Apify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n8n (2021 г.)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заголовков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в токенах: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885,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1065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 сопоставимости: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IPM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million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70E87A4-09E9-71E4-92A5-5A23D79E4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876" y="5486265"/>
            <a:ext cx="1153631" cy="11536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45215A2-3D24-40EA-0D51-1A1B3CA1B8C2}"/>
              </a:ext>
            </a:extLst>
          </p:cNvPr>
          <p:cNvSpPr txBox="1"/>
          <p:nvPr/>
        </p:nvSpPr>
        <p:spPr>
          <a:xfrm>
            <a:off x="9357153" y="5929034"/>
            <a:ext cx="1504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C9028B9-C601-A318-4C19-BC5093F3F85F}"/>
              </a:ext>
            </a:extLst>
          </p:cNvPr>
          <p:cNvCxnSpPr>
            <a:cxnSpLocks/>
          </p:cNvCxnSpPr>
          <p:nvPr/>
        </p:nvCxnSpPr>
        <p:spPr>
          <a:xfrm flipH="1">
            <a:off x="428803" y="5461666"/>
            <a:ext cx="11421183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ox2Text">
            <a:extLst>
              <a:ext uri="{FF2B5EF4-FFF2-40B4-BE49-F238E27FC236}">
                <a16:creationId xmlns:a16="http://schemas.microsoft.com/office/drawing/2014/main" id="{AC0EFE05-8149-C02E-F120-588C2D9FFA90}"/>
              </a:ext>
            </a:extLst>
          </p:cNvPr>
          <p:cNvSpPr txBox="1">
            <a:spLocks/>
          </p:cNvSpPr>
          <p:nvPr/>
        </p:nvSpPr>
        <p:spPr>
          <a:xfrm>
            <a:off x="7675880" y="2339168"/>
            <a:ext cx="3903521" cy="2275984"/>
          </a:xfrm>
          <a:prstGeom prst="rect">
            <a:avLst/>
          </a:prstGeom>
          <a:solidFill>
            <a:srgbClr val="EEF0F8"/>
          </a:solidFill>
        </p:spPr>
        <p:txBody>
          <a:bodyPr vert="horz" lIns="91440" tIns="91440" rIns="91440" bIns="91440" rtlCol="0" anchor="t">
            <a:no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 –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«большой, представленный в машиночитаемом формате, унифицированный, структурированный, размеченный массив языковых данных»</a:t>
            </a:r>
          </a:p>
          <a:p>
            <a:endParaRPr lang="ru-RU" sz="1600" dirty="0"/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(Захаров, Богданова, 2013:5)</a:t>
            </a:r>
          </a:p>
        </p:txBody>
      </p:sp>
    </p:spTree>
    <p:extLst>
      <p:ext uri="{BB962C8B-B14F-4D97-AF65-F5344CB8AC3E}">
        <p14:creationId xmlns:p14="http://schemas.microsoft.com/office/powerpoint/2010/main" val="408265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805220"/>
              </p:ext>
            </p:extLst>
          </p:nvPr>
        </p:nvGraphicFramePr>
        <p:xfrm>
          <a:off x="1291829" y="2117818"/>
          <a:ext cx="9936126" cy="4267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193">
                  <a:extLst>
                    <a:ext uri="{9D8B030D-6E8A-4147-A177-3AD203B41FA5}">
                      <a16:colId xmlns:a16="http://schemas.microsoft.com/office/drawing/2014/main" val="3860500048"/>
                    </a:ext>
                  </a:extLst>
                </a:gridCol>
                <a:gridCol w="7132933">
                  <a:extLst>
                    <a:ext uri="{9D8B030D-6E8A-4147-A177-3AD203B41FA5}">
                      <a16:colId xmlns:a16="http://schemas.microsoft.com/office/drawing/2014/main" val="1736733855"/>
                    </a:ext>
                  </a:extLst>
                </a:gridCol>
              </a:tblGrid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964536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 Метаданные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поисковые слова, текст заголовка, дата, платформа, язык, длина заголовка</a:t>
                      </a: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418217"/>
                  </a:ext>
                </a:extLst>
              </a:tr>
              <a:tr h="604063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Графика и орфография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повтор букв, капитализация, пунктуация, эмодзи (8 функций), наличие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хэштегов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смешение кодов, конструкции с цифрами</a:t>
                      </a: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467259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Фонетика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звукоподражания, созвучия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их подвиды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575895"/>
                  </a:ext>
                </a:extLst>
              </a:tr>
              <a:tr h="604063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Морфология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преобладающая часть речи, модель «прил. + сущ.», глагольные формы 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 лицо, императив), превосходная степень</a:t>
                      </a: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017830"/>
                  </a:ext>
                </a:extLst>
              </a:tr>
              <a:tr h="604063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Лексика и семантика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стилистически маркированная лексика, заимствования,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оценочность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неологизмы, аббревиатуры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др.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68050"/>
                  </a:ext>
                </a:extLst>
              </a:tr>
              <a:tr h="604063">
                <a:tc>
                  <a:txBody>
                    <a:bodyPr/>
                    <a:lstStyle/>
                    <a:p>
                      <a:r>
                        <a:rPr lang="ru-RU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Синтаксис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предложения (структура, цель высказывания), экспрессивный синтаксис (парцелляция, сегментация, асиндетон и др.)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риторический вопрос</a:t>
                      </a: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699565"/>
                  </a:ext>
                </a:extLst>
              </a:tr>
              <a:tr h="518637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Прагматика</a:t>
                      </a:r>
                    </a:p>
                  </a:txBody>
                  <a:tcPr marR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коммуникативные стратегии, персонализация,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интертекстуальность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87214"/>
                  </a:ext>
                </a:extLst>
              </a:tr>
            </a:tbl>
          </a:graphicData>
        </a:graphic>
      </p:graphicFrame>
      <p:sp>
        <p:nvSpPr>
          <p:cNvPr id="10" name="Text1"/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41592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1" name="Text2"/>
          <p:cNvSpPr>
            <a:spLocks noGrp="1"/>
          </p:cNvSpPr>
          <p:nvPr>
            <p:ph type="body" sz="quarter" idx="14"/>
          </p:nvPr>
        </p:nvSpPr>
        <p:spPr>
          <a:xfrm>
            <a:off x="3459162" y="540904"/>
            <a:ext cx="2484437" cy="408109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12" name="Text7"/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251471" cy="40810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разметки заголовков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Pinterest 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Xiaohongshu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528" y="1374630"/>
            <a:ext cx="1196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РАЗМЕТКИ ЗАГОЛОВКОВ</a:t>
            </a:r>
          </a:p>
        </p:txBody>
      </p:sp>
    </p:spTree>
    <p:extLst>
      <p:ext uri="{BB962C8B-B14F-4D97-AF65-F5344CB8AC3E}">
        <p14:creationId xmlns:p14="http://schemas.microsoft.com/office/powerpoint/2010/main" val="8310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 txBox="1">
            <a:spLocks/>
          </p:cNvSpPr>
          <p:nvPr/>
        </p:nvSpPr>
        <p:spPr>
          <a:xfrm>
            <a:off x="7007311" y="1346246"/>
            <a:ext cx="5009058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 РАНГОВОЙ КОРРЕЛЯЦИИ СПИРМЕНА</a:t>
            </a:r>
          </a:p>
        </p:txBody>
      </p:sp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 txBox="1">
            <a:spLocks/>
          </p:cNvSpPr>
          <p:nvPr/>
        </p:nvSpPr>
        <p:spPr>
          <a:xfrm>
            <a:off x="6945854" y="2240175"/>
            <a:ext cx="4120029" cy="107934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корреляция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всем 75 признакам составила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0.702, что свидетельствует о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силе связи между сегментами</a:t>
            </a:r>
          </a:p>
        </p:txBody>
      </p:sp>
      <p:sp>
        <p:nvSpPr>
          <p:cNvPr id="1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611562" y="548716"/>
            <a:ext cx="238016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/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ранговой корреляции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9CAB0D-8DDE-41F3-0F45-413FF3A6AEAB}"/>
              </a:ext>
            </a:extLst>
          </p:cNvPr>
          <p:cNvSpPr txBox="1"/>
          <p:nvPr/>
        </p:nvSpPr>
        <p:spPr>
          <a:xfrm>
            <a:off x="371979" y="6295015"/>
            <a:ext cx="1001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*Вычисление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ранговой корреляции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библиотека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Scipy.stats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FA1F7BF-4788-E6A3-39E1-B09F6E05C723}"/>
              </a:ext>
            </a:extLst>
          </p:cNvPr>
          <p:cNvCxnSpPr>
            <a:cxnSpLocks/>
          </p:cNvCxnSpPr>
          <p:nvPr/>
        </p:nvCxnSpPr>
        <p:spPr>
          <a:xfrm flipH="1">
            <a:off x="428803" y="6247469"/>
            <a:ext cx="11123471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48" y="1672243"/>
            <a:ext cx="5276490" cy="410697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D466A57-3A73-A6B6-9D4E-05F55AD03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690271"/>
              </p:ext>
            </p:extLst>
          </p:nvPr>
        </p:nvGraphicFramePr>
        <p:xfrm>
          <a:off x="7046905" y="3523694"/>
          <a:ext cx="3947797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467">
                  <a:extLst>
                    <a:ext uri="{9D8B030D-6E8A-4147-A177-3AD203B41FA5}">
                      <a16:colId xmlns:a16="http://schemas.microsoft.com/office/drawing/2014/main" val="4194034215"/>
                    </a:ext>
                  </a:extLst>
                </a:gridCol>
                <a:gridCol w="2504330">
                  <a:extLst>
                    <a:ext uri="{9D8B030D-6E8A-4147-A177-3AD203B41FA5}">
                      <a16:colId xmlns:a16="http://schemas.microsoft.com/office/drawing/2014/main" val="418054731"/>
                    </a:ext>
                  </a:extLst>
                </a:gridCol>
              </a:tblGrid>
              <a:tr h="560409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Диапазон 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значений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|r|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Теснота (сила) корреляционной связи </a:t>
                      </a: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507517"/>
                  </a:ext>
                </a:extLst>
              </a:tr>
              <a:tr h="324447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0.1–0.3 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слабая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23139"/>
                  </a:ext>
                </a:extLst>
              </a:tr>
              <a:tr h="324447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0.3–0.5 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умеренная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272173"/>
                  </a:ext>
                </a:extLst>
              </a:tr>
              <a:tr h="324447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0.5–0.7 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заметная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597754"/>
                  </a:ext>
                </a:extLst>
              </a:tr>
              <a:tr h="324447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0.7–0.9 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648734"/>
                  </a:ext>
                </a:extLst>
              </a:tr>
              <a:tr h="324447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0.9–0.99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весьма высокая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201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774A270-189D-D041-9FAF-BFB8EC026B60}"/>
              </a:ext>
            </a:extLst>
          </p:cNvPr>
          <p:cNvSpPr txBox="1"/>
          <p:nvPr/>
        </p:nvSpPr>
        <p:spPr>
          <a:xfrm>
            <a:off x="6962279" y="5779214"/>
            <a:ext cx="249806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1. Шкала </a:t>
            </a:r>
            <a:r>
              <a:rPr lang="ru-RU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Чеддока</a:t>
            </a:r>
            <a:endParaRPr lang="ru-RU" sz="15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 txBox="1">
            <a:spLocks/>
          </p:cNvSpPr>
          <p:nvPr/>
        </p:nvSpPr>
        <p:spPr>
          <a:xfrm>
            <a:off x="428802" y="4259140"/>
            <a:ext cx="5319055" cy="943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блока 1.3 («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Эмотиконы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 была выявлена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связи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0.830)</a:t>
            </a:r>
          </a:p>
        </p:txBody>
      </p:sp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 txBox="1">
            <a:spLocks/>
          </p:cNvSpPr>
          <p:nvPr/>
        </p:nvSpPr>
        <p:spPr>
          <a:xfrm>
            <a:off x="6916360" y="1289514"/>
            <a:ext cx="4825127" cy="78577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блока 4 («Лексико-семантический уровень») была выявлена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заметная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связи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0.599)</a:t>
            </a:r>
          </a:p>
        </p:txBody>
      </p:sp>
      <p:sp>
        <p:nvSpPr>
          <p:cNvPr id="1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611562" y="548716"/>
            <a:ext cx="238016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/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ранговой корреляции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13" y="1347333"/>
            <a:ext cx="5897193" cy="2773569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77" y="3471796"/>
            <a:ext cx="5555410" cy="25826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9CAB0D-8DDE-41F3-0F45-413FF3A6AEAB}"/>
              </a:ext>
            </a:extLst>
          </p:cNvPr>
          <p:cNvSpPr txBox="1"/>
          <p:nvPr/>
        </p:nvSpPr>
        <p:spPr>
          <a:xfrm>
            <a:off x="371979" y="6305965"/>
            <a:ext cx="1001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*Вычисление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ранговой корреляции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библиотека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Scipy.stats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FA1F7BF-4788-E6A3-39E1-B09F6E05C723}"/>
              </a:ext>
            </a:extLst>
          </p:cNvPr>
          <p:cNvCxnSpPr>
            <a:cxnSpLocks/>
          </p:cNvCxnSpPr>
          <p:nvPr/>
        </p:nvCxnSpPr>
        <p:spPr>
          <a:xfrm flipH="1">
            <a:off x="428803" y="6258419"/>
            <a:ext cx="11123471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0512" y="4931561"/>
            <a:ext cx="5366251" cy="1200329"/>
          </a:xfrm>
          <a:prstGeom prst="rect">
            <a:avLst/>
          </a:prstGeom>
          <a:solidFill>
            <a:srgbClr val="EEF0F8"/>
          </a:solidFill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номинативная функция эмодзи 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Вкуснейший тортик за 15 минут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🎂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✨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iPhone13香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📱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蓝牙迁移数据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13 – вкусняшка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📱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Перенос данных по Bluetooth»)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2534" y="1968194"/>
            <a:ext cx="4738953" cy="1200329"/>
          </a:xfrm>
          <a:prstGeom prst="rect">
            <a:avLst/>
          </a:prstGeom>
          <a:solidFill>
            <a:srgbClr val="EEF0F8"/>
          </a:solidFill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интенсификаторы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RU: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u-RU" sz="1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безумно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богатых звёзд, которые выросли в нищете </a:t>
            </a:r>
            <a:endParaRPr lang="ru-RU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驾考经验分享 </a:t>
            </a:r>
            <a:r>
              <a:rPr lang="zh-CN" altLang="en-US" sz="1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绝对</a:t>
            </a:r>
            <a:r>
              <a: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干货满满 </a:t>
            </a:r>
            <a:r>
              <a:rPr lang="ru-RU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(«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Опыт сдачи экзамена   на права – </a:t>
            </a:r>
            <a:r>
              <a:rPr lang="ru-RU" sz="1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абсолютно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полезная информация»)</a:t>
            </a:r>
          </a:p>
        </p:txBody>
      </p:sp>
    </p:spTree>
    <p:extLst>
      <p:ext uri="{BB962C8B-B14F-4D97-AF65-F5344CB8AC3E}">
        <p14:creationId xmlns:p14="http://schemas.microsoft.com/office/powerpoint/2010/main" val="284555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 txBox="1">
            <a:spLocks/>
          </p:cNvSpPr>
          <p:nvPr/>
        </p:nvSpPr>
        <p:spPr>
          <a:xfrm>
            <a:off x="428803" y="4448535"/>
            <a:ext cx="5093373" cy="8430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блока 5 («Синтаксический уровень») была выявлена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связи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0.763)</a:t>
            </a:r>
          </a:p>
        </p:txBody>
      </p:sp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7B6EC5B9-282D-B84A-B169-E82D52070680}"/>
              </a:ext>
            </a:extLst>
          </p:cNvPr>
          <p:cNvSpPr txBox="1">
            <a:spLocks/>
          </p:cNvSpPr>
          <p:nvPr/>
        </p:nvSpPr>
        <p:spPr>
          <a:xfrm>
            <a:off x="6744568" y="1174148"/>
            <a:ext cx="5063560" cy="6442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блока 6 («Прагматический уровень») была выявлена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связи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0.843)</a:t>
            </a:r>
          </a:p>
        </p:txBody>
      </p:sp>
      <p:sp>
        <p:nvSpPr>
          <p:cNvPr id="1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611562" y="548716"/>
            <a:ext cx="238016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/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ранговой корреляции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27" y="1361136"/>
            <a:ext cx="6123305" cy="2852109"/>
          </a:xfrm>
          <a:prstGeom prst="rect">
            <a:avLst/>
          </a:prstGeom>
        </p:spPr>
      </p:pic>
      <p:pic>
        <p:nvPicPr>
          <p:cNvPr id="17" name="Рисунок 1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718" y="3580230"/>
            <a:ext cx="5474588" cy="25548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6AC8FD-C5FB-BB4A-7173-E6E50F700117}"/>
              </a:ext>
            </a:extLst>
          </p:cNvPr>
          <p:cNvSpPr txBox="1"/>
          <p:nvPr/>
        </p:nvSpPr>
        <p:spPr>
          <a:xfrm>
            <a:off x="371979" y="6267640"/>
            <a:ext cx="1001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*Вычисление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коэффицента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ранговой корреляции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Спирмена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библиотека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Scipy.stats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31BE6CD-F0ED-3B43-53AD-8A1AC435D084}"/>
              </a:ext>
            </a:extLst>
          </p:cNvPr>
          <p:cNvCxnSpPr>
            <a:cxnSpLocks/>
          </p:cNvCxnSpPr>
          <p:nvPr/>
        </p:nvCxnSpPr>
        <p:spPr>
          <a:xfrm flipH="1">
            <a:off x="428803" y="6220094"/>
            <a:ext cx="11123471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19878" y="1770180"/>
            <a:ext cx="4795557" cy="1615827"/>
          </a:xfrm>
          <a:prstGeom prst="rect">
            <a:avLst/>
          </a:prstGeom>
          <a:solidFill>
            <a:srgbClr val="EEF0F8"/>
          </a:solidFill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привлечения внимания</a:t>
            </a:r>
          </a:p>
          <a:p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RU:</a:t>
            </a:r>
            <a:r>
              <a:rPr lang="ru-RU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Топ-бренды с WB, которые взорвали интернет: не упустите шанс быть в тренде!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✨👗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ZH:</a:t>
            </a:r>
            <a:r>
              <a:rPr lang="ru-RU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救命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🆘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广州首家螺蛳粉牛杂火锅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‼️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香哭了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(«Спасите! В Гуанчжоу первый ресторан с лапшой с улитками и субпродуктами!! Наплакалась от вкусноты»)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0211" y="5142435"/>
            <a:ext cx="4646332" cy="769441"/>
          </a:xfrm>
          <a:prstGeom prst="rect">
            <a:avLst/>
          </a:prstGeom>
          <a:solidFill>
            <a:srgbClr val="EEF0F8"/>
          </a:solidFill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общность иерархии предложений</a:t>
            </a:r>
          </a:p>
          <a:p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повествовательное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вопросительное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побудительное</a:t>
            </a:r>
          </a:p>
        </p:txBody>
      </p:sp>
    </p:spTree>
    <p:extLst>
      <p:ext uri="{BB962C8B-B14F-4D97-AF65-F5344CB8AC3E}">
        <p14:creationId xmlns:p14="http://schemas.microsoft.com/office/powerpoint/2010/main" val="362410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4"/>
          </p:nvPr>
        </p:nvSpPr>
        <p:spPr>
          <a:xfrm>
            <a:off x="3459162" y="548720"/>
            <a:ext cx="2501799" cy="408109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Манна-Уитни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66167"/>
              </p:ext>
            </p:extLst>
          </p:nvPr>
        </p:nvGraphicFramePr>
        <p:xfrm>
          <a:off x="697981" y="1942658"/>
          <a:ext cx="10908000" cy="394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4536">
                  <a:extLst>
                    <a:ext uri="{9D8B030D-6E8A-4147-A177-3AD203B41FA5}">
                      <a16:colId xmlns:a16="http://schemas.microsoft.com/office/drawing/2014/main" val="913356963"/>
                    </a:ext>
                  </a:extLst>
                </a:gridCol>
                <a:gridCol w="3160617">
                  <a:extLst>
                    <a:ext uri="{9D8B030D-6E8A-4147-A177-3AD203B41FA5}">
                      <a16:colId xmlns:a16="http://schemas.microsoft.com/office/drawing/2014/main" val="1903591768"/>
                    </a:ext>
                  </a:extLst>
                </a:gridCol>
                <a:gridCol w="3742847">
                  <a:extLst>
                    <a:ext uri="{9D8B030D-6E8A-4147-A177-3AD203B41FA5}">
                      <a16:colId xmlns:a16="http://schemas.microsoft.com/office/drawing/2014/main" val="2626372083"/>
                    </a:ext>
                  </a:extLst>
                </a:gridCol>
              </a:tblGrid>
              <a:tr h="3487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 (Pinterest)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 (Xiaohongshu)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472670"/>
                  </a:ext>
                </a:extLst>
              </a:tr>
              <a:tr h="385111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 «прил. + сущ.» 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 0,0001)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интернет-сленг (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 = 0,00008)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повтор восклицательных знаков </a:t>
                      </a:r>
                    </a:p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0,00942)</a:t>
                      </a:r>
                    </a:p>
                  </a:txBody>
                  <a:tcPr marL="121820" marR="91365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24165"/>
                  </a:ext>
                </a:extLst>
              </a:tr>
              <a:tr h="490144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нейтральная лексика 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 0,0001)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англицизмы (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 = 0,00011)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сочетание иероглифов и английских слов 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 0,02527)</a:t>
                      </a:r>
                    </a:p>
                  </a:txBody>
                  <a:tcPr marL="121820" marR="91365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473467"/>
                  </a:ext>
                </a:extLst>
              </a:tr>
              <a:tr h="423383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стратегия информирования 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 0,0001)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сленг (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 = 0,00095)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личное обращение 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0,04019)</a:t>
                      </a:r>
                    </a:p>
                  </a:txBody>
                  <a:tcPr marL="121820" marR="91365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62227"/>
                  </a:ext>
                </a:extLst>
              </a:tr>
              <a:tr h="510620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СПП 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0,00053)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разделительная функция эмодзи    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0,00199)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глагольные формы 1-го лица ед. ч. </a:t>
                      </a:r>
                    </a:p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0,04653)</a:t>
                      </a:r>
                    </a:p>
                  </a:txBody>
                  <a:tcPr marL="121820" marR="91365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64348"/>
                  </a:ext>
                </a:extLst>
              </a:tr>
              <a:tr h="483729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 вида n X-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ов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которые… 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0,01615)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простые предложения 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0,00728)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стратегия привлечение внимания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0,00603)</a:t>
                      </a:r>
                    </a:p>
                  </a:txBody>
                  <a:tcPr marL="121820" marR="91365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701909"/>
                  </a:ext>
                </a:extLst>
              </a:tr>
              <a:tr h="563487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 вида n Y-x X-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ов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0,01878)</a:t>
                      </a:r>
                    </a:p>
                  </a:txBody>
                  <a:tcPr marL="91365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оценочность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p_adj = 0,02227)</a:t>
                      </a:r>
                    </a:p>
                  </a:txBody>
                  <a:tcPr marL="121820" marR="121820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820" marR="91365" marT="76137" marB="76137" anchor="ctr">
                    <a:lnL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44575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852137" y="1308667"/>
            <a:ext cx="941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Манна-Уитни с поправкой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Беньямини-Хохберга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51C9B-45A6-3873-2FF6-7D12F140D8B0}"/>
              </a:ext>
            </a:extLst>
          </p:cNvPr>
          <p:cNvSpPr txBox="1"/>
          <p:nvPr/>
        </p:nvSpPr>
        <p:spPr>
          <a:xfrm>
            <a:off x="393540" y="6255875"/>
            <a:ext cx="10632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*Вычисление поправки на множественное сравнение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Беньямини-Хохберга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 FDR)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библиотека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Statsmodels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196B914-DA9A-557A-690B-7F62AFE6BFA9}"/>
              </a:ext>
            </a:extLst>
          </p:cNvPr>
          <p:cNvCxnSpPr>
            <a:cxnSpLocks/>
          </p:cNvCxnSpPr>
          <p:nvPr/>
        </p:nvCxnSpPr>
        <p:spPr>
          <a:xfrm flipH="1">
            <a:off x="428803" y="6220094"/>
            <a:ext cx="11123471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18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77597" y="1357478"/>
            <a:ext cx="2646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 txBox="1">
            <a:spLocks/>
          </p:cNvSpPr>
          <p:nvPr/>
        </p:nvSpPr>
        <p:spPr>
          <a:xfrm>
            <a:off x="599380" y="1404503"/>
            <a:ext cx="9221146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МОРФОЛОГИЧЕСКАЯ РАЗМЕТКА</a:t>
            </a:r>
          </a:p>
        </p:txBody>
      </p:sp>
      <p:sp>
        <p:nvSpPr>
          <p:cNvPr id="13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502891" y="525895"/>
            <a:ext cx="260442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автоматической морфологической разметки</a:t>
            </a:r>
          </a:p>
        </p:txBody>
      </p:sp>
      <p:pic>
        <p:nvPicPr>
          <p:cNvPr id="16" name="Рисунок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509" y="2090275"/>
            <a:ext cx="5823111" cy="3502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0D4835-0C0F-0FFE-8D7C-F452D616FD65}"/>
              </a:ext>
            </a:extLst>
          </p:cNvPr>
          <p:cNvSpPr txBox="1"/>
          <p:nvPr/>
        </p:nvSpPr>
        <p:spPr>
          <a:xfrm>
            <a:off x="536783" y="1944362"/>
            <a:ext cx="51366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доминирование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 существительных</a:t>
            </a:r>
          </a:p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Визуализации Успеха в Карьере и Достижения Целей в Работе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преобладание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 существительных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глаголов</a:t>
            </a:r>
          </a:p>
          <a:p>
            <a:r>
              <a:rPr lang="ja-JP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私藏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🌟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ja-JP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家高颜值童趣儿童房软装好物分享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💕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(«Личная подборка 6 магазинов с красивыми и забавными товарами для детской комнаты»)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广州入秋啦！穿新鞋出门结果下雨了，嘻嘻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(«В Гуанчжоу наступила осень! Надела новые туфли, вышла из дома, а в итоге пошел дождь, хи-хи»)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1225E4-BA51-1A28-BBF6-88E48A761D22}"/>
              </a:ext>
            </a:extLst>
          </p:cNvPr>
          <p:cNvSpPr txBox="1"/>
          <p:nvPr/>
        </p:nvSpPr>
        <p:spPr>
          <a:xfrm>
            <a:off x="488936" y="6244687"/>
            <a:ext cx="1143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*Построение столбчатых диаграмм, настройка графиков, добавление подписей и легенд – библиотека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861FBD9-54E5-51AC-B4E5-6BC849FCAEF6}"/>
              </a:ext>
            </a:extLst>
          </p:cNvPr>
          <p:cNvCxnSpPr>
            <a:cxnSpLocks/>
          </p:cNvCxnSpPr>
          <p:nvPr/>
        </p:nvCxnSpPr>
        <p:spPr>
          <a:xfrm flipH="1">
            <a:off x="534264" y="6220094"/>
            <a:ext cx="11123471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50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39262" y="1266194"/>
            <a:ext cx="52113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 txBox="1">
            <a:spLocks/>
          </p:cNvSpPr>
          <p:nvPr/>
        </p:nvSpPr>
        <p:spPr>
          <a:xfrm>
            <a:off x="439262" y="1286331"/>
            <a:ext cx="9221146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СИНТАКСИЧЕСКАЯ РАЗМЕТКА</a:t>
            </a:r>
          </a:p>
        </p:txBody>
      </p:sp>
      <p:sp>
        <p:nvSpPr>
          <p:cNvPr id="11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611562" y="548716"/>
            <a:ext cx="2443797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синтаксической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разметки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105" y="1646950"/>
            <a:ext cx="5862381" cy="330581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0" y="2737062"/>
            <a:ext cx="4660510" cy="32105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045A57-3D00-CAFA-FD8E-DB755BBA306D}"/>
              </a:ext>
            </a:extLst>
          </p:cNvPr>
          <p:cNvSpPr txBox="1"/>
          <p:nvPr/>
        </p:nvSpPr>
        <p:spPr>
          <a:xfrm>
            <a:off x="5891767" y="5067428"/>
            <a:ext cx="6095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структуре преобладают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номинативные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бессоюзные предложения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(RU)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номинативные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неполные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(ZH)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D6005-BA1D-1397-3A48-26C50C27B711}"/>
              </a:ext>
            </a:extLst>
          </p:cNvPr>
          <p:cNvSpPr txBox="1"/>
          <p:nvPr/>
        </p:nvSpPr>
        <p:spPr>
          <a:xfrm>
            <a:off x="439262" y="1941717"/>
            <a:ext cx="4861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цели высказывания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преобладают повествовательные предложения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52FA1-9F99-F267-FEF3-6E1B94022659}"/>
              </a:ext>
            </a:extLst>
          </p:cNvPr>
          <p:cNvSpPr txBox="1"/>
          <p:nvPr/>
        </p:nvSpPr>
        <p:spPr>
          <a:xfrm>
            <a:off x="382610" y="6270609"/>
            <a:ext cx="1001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*Построение столбчатых диаграмм, настройка графиков, добавление подписей и легенд – библиотека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DB5C7DF-9FFC-034E-36DD-AD237F34075F}"/>
              </a:ext>
            </a:extLst>
          </p:cNvPr>
          <p:cNvCxnSpPr>
            <a:cxnSpLocks/>
          </p:cNvCxnSpPr>
          <p:nvPr/>
        </p:nvCxnSpPr>
        <p:spPr>
          <a:xfrm flipH="1">
            <a:off x="439262" y="6220094"/>
            <a:ext cx="11123471" cy="0"/>
          </a:xfrm>
          <a:prstGeom prst="line">
            <a:avLst/>
          </a:prstGeom>
          <a:ln>
            <a:solidFill>
              <a:srgbClr val="1901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414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BEC140-52EA-83B8-4CA1-A6EA76C8D940}"/>
              </a:ext>
            </a:extLst>
          </p:cNvPr>
          <p:cNvSpPr txBox="1"/>
          <p:nvPr/>
        </p:nvSpPr>
        <p:spPr>
          <a:xfrm>
            <a:off x="532957" y="1832758"/>
            <a:ext cx="9333802" cy="4686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Символы «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｜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и « / » при внешне одинаковой реализации несут различные прагматические функции: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Тегирование</a:t>
            </a:r>
            <a:r>
              <a:rPr lang="en-US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механическое дублирование ключевых слов без синтаксической связи; функция сводится к повышению кликабельности</a:t>
            </a: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RU: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Собака | милый пес | песик | красивая собака | питомец | любимый питомец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ZH: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宿舍平价沙发椅</a:t>
            </a:r>
            <a:r>
              <a:rPr lang="en-US" altLang="ja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宿舍好物</a:t>
            </a:r>
            <a:r>
              <a:rPr lang="en-US" altLang="ja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懒人沙发椅</a:t>
            </a:r>
            <a:r>
              <a:rPr lang="en-US" altLang="ja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«Недорогое кресло для общежития | Полезные вещи для общежития | Кресло-мешок»)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600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Сегментация / </a:t>
            </a:r>
            <a:r>
              <a:rPr lang="ru-RU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конструкция </a:t>
            </a: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топик-комментарий</a:t>
            </a: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вынесение именительного темы в начало   </a:t>
            </a:r>
            <a:endParaRPr lang="en-US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RU: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приём экспрессивного синтаксиса </a:t>
            </a:r>
            <a:r>
              <a:rPr lang="ru-RU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Гардеробная капсула | Забирайте файл по ссылке)</a:t>
            </a:r>
            <a:r>
              <a:rPr lang="ru-RU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ZH: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воспроизведение </a:t>
            </a: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типичной в китайском языке конструкции </a:t>
            </a:r>
            <a:r>
              <a:rPr lang="ru-RU" sz="1600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读书</a:t>
            </a:r>
            <a:r>
              <a:rPr lang="en-US" altLang="ja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每天五分钟， 一 起阅读育儿书籍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– «Чтение | Пять минут в день, читаем книги о воспитании вместе 📚») </a:t>
            </a:r>
            <a:endParaRPr lang="ru-RU" sz="1600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Уточнение</a:t>
            </a:r>
            <a:r>
              <a:rPr lang="en-US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введение 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дополнительной информации через уточняющие члены </a:t>
            </a:r>
            <a:endParaRPr lang="ru-RU" sz="1600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RU: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Планы на неделю: как правильно оформить шаблон и расписание дел | femmida.ru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ZH: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最宝藏阅读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APP｜</a:t>
            </a:r>
            <a:r>
              <a:rPr lang="ja-JP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每天一小时培养阅 读好 </a:t>
            </a:r>
            <a:r>
              <a:rPr lang="ru-RU" altLang="ja-JP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Самое ценное приложение для чтения | Один час в день для хорошей привычки чтения»)</a:t>
            </a:r>
            <a:endParaRPr lang="ru-RU" sz="1600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F1AA0-C074-1569-C714-74E143409779}"/>
              </a:ext>
            </a:extLst>
          </p:cNvPr>
          <p:cNvSpPr txBox="1"/>
          <p:nvPr/>
        </p:nvSpPr>
        <p:spPr>
          <a:xfrm>
            <a:off x="532956" y="1243861"/>
            <a:ext cx="8945969" cy="1020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СИМВОЛ-РАЗДЕЛИТЕЛЬ КАК ОСОБЕННОСТЬ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Текст 1">
            <a:extLst>
              <a:ext uri="{FF2B5EF4-FFF2-40B4-BE49-F238E27FC236}">
                <a16:creationId xmlns:a16="http://schemas.microsoft.com/office/drawing/2014/main" id="{92B4AB44-4E8C-D549-6613-37566B6221D0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16E33B50-F1F9-8978-57A9-39CD50B8471B}"/>
              </a:ext>
            </a:extLst>
          </p:cNvPr>
          <p:cNvSpPr txBox="1">
            <a:spLocks/>
          </p:cNvSpPr>
          <p:nvPr/>
        </p:nvSpPr>
        <p:spPr>
          <a:xfrm>
            <a:off x="3611562" y="548716"/>
            <a:ext cx="2514917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9EE98B0-5E30-6BD5-4FD2-1B8AF6C95CC9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синтаксической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разметки</a:t>
            </a:r>
          </a:p>
        </p:txBody>
      </p:sp>
    </p:spTree>
    <p:extLst>
      <p:ext uri="{BB962C8B-B14F-4D97-AF65-F5344CB8AC3E}">
        <p14:creationId xmlns:p14="http://schemas.microsoft.com/office/powerpoint/2010/main" val="88484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574916" y="484547"/>
            <a:ext cx="2460374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результаты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688003" y="1556362"/>
            <a:ext cx="611457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0F039AB-5A8C-9B28-FCC4-54E6DDF6B4BC}"/>
              </a:ext>
            </a:extLst>
          </p:cNvPr>
          <p:cNvSpPr txBox="1">
            <a:spLocks/>
          </p:cNvSpPr>
          <p:nvPr/>
        </p:nvSpPr>
        <p:spPr>
          <a:xfrm>
            <a:off x="531839" y="1443684"/>
            <a:ext cx="9221146" cy="51278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1. ТИПОЛОГИЯ ЯЗЫКА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54EC942-5778-BCC7-70C7-C970019BE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18646"/>
              </p:ext>
            </p:extLst>
          </p:nvPr>
        </p:nvGraphicFramePr>
        <p:xfrm>
          <a:off x="481888" y="2183314"/>
          <a:ext cx="1122347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8464">
                  <a:extLst>
                    <a:ext uri="{9D8B030D-6E8A-4147-A177-3AD203B41FA5}">
                      <a16:colId xmlns:a16="http://schemas.microsoft.com/office/drawing/2014/main" val="1774737782"/>
                    </a:ext>
                  </a:extLst>
                </a:gridCol>
                <a:gridCol w="5545007">
                  <a:extLst>
                    <a:ext uri="{9D8B030D-6E8A-4147-A177-3AD203B41FA5}">
                      <a16:colId xmlns:a16="http://schemas.microsoft.com/office/drawing/2014/main" val="3633826825"/>
                    </a:ext>
                  </a:extLst>
                </a:gridCol>
              </a:tblGrid>
              <a:tr h="565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RU: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относительное преобладание сложных предложений 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следствие флективного строя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  <a:endParaRPr lang="ru-RU" sz="1600" b="0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относительное</a:t>
                      </a:r>
                      <a:r>
                        <a:rPr lang="ru-RU" sz="16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преобладание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неполных конструкций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отсутствие СПП и ССП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–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следствие изолирующего строя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фраз, которые заставят вашего ребенка вас слушаться –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СПП</a:t>
                      </a:r>
                      <a:endParaRPr lang="ru-RU" sz="1600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ja-JP" altLang="en-US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不想穿职业装呜呜呜～</a:t>
                      </a:r>
                      <a:r>
                        <a:rPr lang="en-US" altLang="ja-JP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altLang="ja-JP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 хочу носить деловую одежду, 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[звуки плача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～») –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неполное</a:t>
                      </a:r>
                      <a:endParaRPr lang="ru-RU" sz="16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3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RU: </a:t>
                      </a:r>
                      <a:r>
                        <a:rPr lang="ru-RU" sz="1600" b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атрибутивная</a:t>
                      </a: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модель «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прил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сущ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 как словосочетание;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</a:t>
                      </a: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прилагательное выступает качественным сказуемым без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вспомогательной связки для акцента на предмете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 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Идеальный тропический отдых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ja-JP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国庆活动之 后数据</a:t>
                      </a:r>
                      <a:r>
                        <a:rPr lang="ja-JP" altLang="en-US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惨</a:t>
                      </a:r>
                      <a:r>
                        <a:rPr lang="ja-JP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的厉害</a:t>
                      </a:r>
                      <a:r>
                        <a:rPr lang="en-US" altLang="ja-JP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altLang="ja-JP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 праздничных мероприятий данные просто </a:t>
                      </a:r>
                      <a:r>
                        <a:rPr lang="ru-RU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ужасающие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»)</a:t>
                      </a:r>
                      <a:endParaRPr lang="ru-RU" sz="16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57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RU: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ассимилированные англицизмы 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язык осваивает заимствование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</a:t>
                      </a: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транслингвизм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как следствие отсутствия флективной системы</a:t>
                      </a:r>
                      <a:endParaRPr lang="ru-RU" sz="1600" kern="1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тренд, бренд, чек-лист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ja-JP" alt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获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offer («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получить </a:t>
                      </a:r>
                      <a:r>
                        <a:rPr lang="ru-RU" sz="1600" b="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оффер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 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ja-JP" alt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广州</a:t>
                      </a:r>
                      <a:r>
                        <a:rPr lang="en-US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 Гуанчжоу»)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6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最宝藏阅读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 («самое сокровенное приложение для чтения»)</a:t>
                      </a:r>
                      <a:endParaRPr lang="ru-RU" sz="16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04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ru-RU" sz="1600" b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весь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фонетический блок специфичен исключительно для китайского языка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звукоподражания </a:t>
                      </a:r>
                      <a:r>
                        <a:rPr lang="ru-RU" sz="1600" b="0" i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иероглифами</a:t>
                      </a:r>
                      <a:r>
                        <a:rPr lang="ru-RU" sz="1600" b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цифрами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воспроизводят звуковой рисунок устного восклицания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1)</a:t>
                      </a:r>
                      <a:r>
                        <a:rPr lang="en-US" sz="16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兔子咬坏了我的长数据线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5555</a:t>
                      </a:r>
                      <a:r>
                        <a:rPr lang="ru-RU" sz="1600" i="1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i="1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ǔ 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ǔ 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ǔ]</a:t>
                      </a:r>
                      <a:r>
                        <a:rPr lang="ru-RU" sz="16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(«Кролик перегрыз мой длинный кабель-зарядку</a:t>
                      </a:r>
                      <a:r>
                        <a:rPr lang="ru-RU" sz="1600" b="1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[звуки плача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»)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2) </a:t>
                      </a:r>
                      <a:r>
                        <a:rPr lang="en-US" sz="1600" b="1" i="1" u="sng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呜呜呜</a:t>
                      </a:r>
                      <a:r>
                        <a:rPr lang="en-US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i="1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ǔ 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ǔ 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ǔ]</a:t>
                      </a:r>
                      <a:r>
                        <a:rPr lang="en-US" sz="16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有无六级网课阅读推荐啊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[звуки плача]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есть ли рекомендации по чтению для экзамена?»)</a:t>
                      </a:r>
                    </a:p>
                  </a:txBody>
                  <a:tcPr>
                    <a:lnL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4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34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02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9D97-39B2-DFAE-E0FF-BF5A836A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">
            <a:extLst>
              <a:ext uri="{FF2B5EF4-FFF2-40B4-BE49-F238E27FC236}">
                <a16:creationId xmlns:a16="http://schemas.microsoft.com/office/drawing/2014/main" id="{56B9A5B5-981A-CCA1-716F-D9A643D5B4CD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729FAB40-3A89-A8E0-DB28-BC5A2EB1372D}"/>
              </a:ext>
            </a:extLst>
          </p:cNvPr>
          <p:cNvSpPr txBox="1">
            <a:spLocks/>
          </p:cNvSpPr>
          <p:nvPr/>
        </p:nvSpPr>
        <p:spPr>
          <a:xfrm>
            <a:off x="3574916" y="484547"/>
            <a:ext cx="2460374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6E756B0-8E47-CF81-A495-D3B07CF05EF2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результаты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CFF10E4-32D3-FC57-6B7F-F2A21D337912}"/>
              </a:ext>
            </a:extLst>
          </p:cNvPr>
          <p:cNvSpPr/>
          <p:nvPr/>
        </p:nvSpPr>
        <p:spPr>
          <a:xfrm>
            <a:off x="688003" y="1556362"/>
            <a:ext cx="611457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4043CE6B-5CFC-E91E-4764-131E8C16775B}"/>
              </a:ext>
            </a:extLst>
          </p:cNvPr>
          <p:cNvSpPr txBox="1">
            <a:spLocks/>
          </p:cNvSpPr>
          <p:nvPr/>
        </p:nvSpPr>
        <p:spPr>
          <a:xfrm>
            <a:off x="599380" y="1404503"/>
            <a:ext cx="9221146" cy="51278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2. АРХИТЕКТУРА ПЛАТФОРМЫ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F5B0766-D007-F90D-BA47-F7DC75E69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08017"/>
              </p:ext>
            </p:extLst>
          </p:nvPr>
        </p:nvGraphicFramePr>
        <p:xfrm>
          <a:off x="528540" y="1983513"/>
          <a:ext cx="11013500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005">
                  <a:extLst>
                    <a:ext uri="{9D8B030D-6E8A-4147-A177-3AD203B41FA5}">
                      <a16:colId xmlns:a16="http://schemas.microsoft.com/office/drawing/2014/main" val="1774737782"/>
                    </a:ext>
                  </a:extLst>
                </a:gridCol>
                <a:gridCol w="5853495">
                  <a:extLst>
                    <a:ext uri="{9D8B030D-6E8A-4147-A177-3AD203B41FA5}">
                      <a16:colId xmlns:a16="http://schemas.microsoft.com/office/drawing/2014/main" val="3633826825"/>
                    </a:ext>
                  </a:extLst>
                </a:gridCol>
              </a:tblGrid>
              <a:tr h="565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Pinterest формировался как инструмент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коллекционирования идей → тяготение к номинативной стратегии</a:t>
                      </a:r>
                      <a:r>
                        <a:rPr lang="en-US" sz="1600" b="0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b="0" u="sng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информационно-нейтральному регистру</a:t>
                      </a:r>
                      <a:r>
                        <a:rPr lang="en-US" sz="1600" b="0" u="none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ru-RU" sz="1600" b="0" u="none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600" b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Xiaohongshu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формировалась как пространство аутентичной потребительской рекомендации → доминирование </a:t>
                      </a:r>
                      <a:r>
                        <a:rPr lang="ru-RU" sz="1600" b="0" u="sng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самопрезентации</a:t>
                      </a:r>
                      <a:r>
                        <a:rPr lang="ru-RU" sz="1600" b="0" u="non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b="0" u="sng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оценочности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Гид по винтажным магазинам: 11 мест в Москве. </a:t>
                      </a:r>
                    </a:p>
                    <a:p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Диета для спортсменов для сжигания жира: меню на день.</a:t>
                      </a:r>
                    </a:p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</a:t>
                      </a:r>
                      <a:r>
                        <a:rPr lang="ja-JP" alt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考教编终于过了</a:t>
                      </a:r>
                      <a:r>
                        <a:rPr lang="en-US" altLang="ja-JP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  <a:r>
                        <a:rPr lang="ja-JP" altLang="en-US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经验分享</a:t>
                      </a:r>
                      <a:r>
                        <a:rPr lang="ja-JP" alt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！</a:t>
                      </a:r>
                      <a:r>
                        <a:rPr lang="en-US" altLang="ja-JP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altLang="ja-JP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Наконец-то сдала экзамен для учителей... </a:t>
                      </a:r>
                      <a:r>
                        <a:rPr lang="ru-RU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делюсь опытом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!») 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самопрезентация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📍</a:t>
                      </a:r>
                      <a:r>
                        <a:rPr lang="ja-JP" alt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广州新店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🌭</a:t>
                      </a:r>
                      <a:r>
                        <a:rPr lang="ja-JP" alt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茶餐厅界</a:t>
                      </a:r>
                      <a:r>
                        <a:rPr lang="ja-JP" altLang="en-US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天花板</a:t>
                      </a:r>
                      <a:r>
                        <a:rPr lang="ja-JP" alt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克茗冰室 </a:t>
                      </a:r>
                      <a:r>
                        <a:rPr lang="en-US" altLang="ja-JP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Новое заведение в Гуанчжоу: </a:t>
                      </a:r>
                      <a:r>
                        <a:rPr lang="ru-RU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потолок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категории чайных ресторанов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оценка </a:t>
                      </a: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3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Побуждение к действию значимо преобладает 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 ZH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через FOMO-конструкции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 RU </a:t>
                      </a:r>
                      <a:r>
                        <a:rPr lang="ru-RU" sz="16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мягкий призыв через глаголы в повелительном наклонении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</a:t>
                      </a:r>
                      <a:r>
                        <a:rPr lang="ru-RU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i="1" u="sng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Учи</a:t>
                      </a:r>
                      <a:r>
                        <a:rPr lang="ru-RU" sz="1600" i="1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английские фразы с нуля!</a:t>
                      </a:r>
                      <a:endParaRPr lang="ru-RU" sz="16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en-US" sz="16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看完就能用的恋爱实战经验，</a:t>
                      </a:r>
                      <a:r>
                        <a:rPr lang="en-US" sz="1600" b="1" i="1" u="sng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不看可能会亏捏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(«Прочитаешь – сразу применишь практический опыт в отношениях, 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 прочитаешь – упустишь свое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»)</a:t>
                      </a: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04211"/>
                  </a:ext>
                </a:extLst>
              </a:tr>
              <a:tr h="468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пецифический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сленг рекомендательного 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 </a:t>
                      </a:r>
                      <a:r>
                        <a:rPr lang="ru-RU" sz="1600" i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контента (сленг блогосферы) м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аркирует принадлежность к сообществу платформы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探店</a:t>
                      </a:r>
                      <a:r>
                        <a:rPr lang="ru-RU" sz="1600" i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«обзор заведений»)</a:t>
                      </a:r>
                      <a:r>
                        <a:rPr lang="en-US" sz="1600" i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en-US" sz="1600" i="1" kern="1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干货</a:t>
                      </a:r>
                      <a:r>
                        <a:rPr lang="ru-RU" sz="1600" i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«полезный контент»)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ru-RU" sz="16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同款</a:t>
                      </a:r>
                      <a:r>
                        <a:rPr lang="ru-RU" sz="16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(«точно такой же, как у знаменитости») </a:t>
                      </a:r>
                      <a:r>
                        <a:rPr lang="ru-RU" sz="16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в постах на тему обзоров материальных вещей</a:t>
                      </a:r>
                      <a:endParaRPr lang="ru-RU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34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i="0" u="sng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Прецедентная ситуация</a:t>
                      </a:r>
                      <a:r>
                        <a:rPr lang="ru-RU" sz="1600" i="0" u="none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только в ZH: культурная и алгоритмическая стратегия продвижения; платформенные алгоритмы чувствительны к ключевым словам актуальных событий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佛系珠海旅游｜3天2 夜国庆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黄金周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人均1k！(«Расслабленный туризм в Чжухай: 3 дня 2 ночи 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 Золотую неделю</a:t>
                      </a:r>
                      <a:r>
                        <a:rPr lang="ru-RU" sz="1600" b="1" i="1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– 1000 юаней на человека!»)</a:t>
                      </a: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664400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A64C98E-0923-7C9C-FFE5-A0A2F7793CE7}"/>
              </a:ext>
            </a:extLst>
          </p:cNvPr>
          <p:cNvGraphicFramePr>
            <a:graphicFrameLocks noGrp="1"/>
          </p:cNvGraphicFramePr>
          <p:nvPr/>
        </p:nvGraphicFramePr>
        <p:xfrm>
          <a:off x="13216597" y="1835834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863211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459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46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">
            <a:extLst>
              <a:ext uri="{FF2B5EF4-FFF2-40B4-BE49-F238E27FC236}">
                <a16:creationId xmlns:a16="http://schemas.microsoft.com/office/drawing/2014/main" id="{5FE1C394-90F0-F10D-B4A2-F9260960A18B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A1D00352-6D7A-4B11-93FC-2193B9AAD3E1}"/>
              </a:ext>
            </a:extLst>
          </p:cNvPr>
          <p:cNvSpPr txBox="1">
            <a:spLocks/>
          </p:cNvSpPr>
          <p:nvPr/>
        </p:nvSpPr>
        <p:spPr>
          <a:xfrm>
            <a:off x="3574916" y="484547"/>
            <a:ext cx="2460374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F1A18C68-9526-1D6D-4CB8-C47689DBB9E1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результаты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AE069D17-2B3F-276C-1449-1232AAD0A11D}"/>
              </a:ext>
            </a:extLst>
          </p:cNvPr>
          <p:cNvSpPr txBox="1">
            <a:spLocks/>
          </p:cNvSpPr>
          <p:nvPr/>
        </p:nvSpPr>
        <p:spPr>
          <a:xfrm>
            <a:off x="568210" y="1207081"/>
            <a:ext cx="9221146" cy="51278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 3. СОЦИОКУЛЬТУРНЫЙ ПРОФИЛЬ АУДИТОРИИ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47D99D6-F30A-A2A4-48C9-43A2CA032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636776"/>
              </p:ext>
            </p:extLst>
          </p:nvPr>
        </p:nvGraphicFramePr>
        <p:xfrm>
          <a:off x="487491" y="1731425"/>
          <a:ext cx="11180691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4532">
                  <a:extLst>
                    <a:ext uri="{9D8B030D-6E8A-4147-A177-3AD203B41FA5}">
                      <a16:colId xmlns:a16="http://schemas.microsoft.com/office/drawing/2014/main" val="1774737782"/>
                    </a:ext>
                  </a:extLst>
                </a:gridCol>
                <a:gridCol w="6416159">
                  <a:extLst>
                    <a:ext uri="{9D8B030D-6E8A-4147-A177-3AD203B41FA5}">
                      <a16:colId xmlns:a16="http://schemas.microsoft.com/office/drawing/2014/main" val="3633826825"/>
                    </a:ext>
                  </a:extLst>
                </a:gridCol>
              </a:tblGrid>
              <a:tr h="668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воспроизводит модель контента для </a:t>
                      </a:r>
                      <a:r>
                        <a:rPr lang="ru-RU" sz="1600" b="0" u="non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широкой </a:t>
                      </a:r>
                      <a:r>
                        <a:rPr lang="en-US" sz="1600" b="0" u="non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ru-RU" sz="1600" b="0" u="non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 социально неоднородной аудитории</a:t>
                      </a:r>
                      <a:r>
                        <a:rPr lang="en-US" sz="1600" b="0" u="non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</a:t>
                      </a:r>
                      <a:endParaRPr lang="ru-RU" sz="1600" b="0" u="none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ru-RU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нарратив личного преодоления, горизонтальный обмен опытом отражают специфику аудитории – </a:t>
                      </a:r>
                      <a:r>
                        <a:rPr lang="ru-RU" sz="1600" b="0" u="non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молодых городских жителей в условиях высококонкурентного рынка труда</a:t>
                      </a:r>
                      <a:r>
                        <a:rPr lang="ru-RU" sz="1800" b="0" u="none" kern="120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b="0" u="none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1) 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базовых вещей, которые должны быть у </a:t>
                      </a:r>
                      <a:r>
                        <a:rPr lang="ru-RU" sz="1600" b="0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каждой девушки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ru-RU" sz="1600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Педагогические заметки: сообщество </a:t>
                      </a:r>
                      <a:r>
                        <a:rPr lang="ru-RU" sz="1600" b="0" i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 педагогов</a:t>
                      </a:r>
                      <a:r>
                        <a:rPr lang="en-US" sz="1600" b="0" i="1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3) 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Как создать свой бренд одежды с нуля |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Советы начинающим производство</a:t>
                      </a:r>
                      <a:r>
                        <a:rPr lang="en-US" sz="1600" b="0" i="1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ru-RU" sz="1600" b="0" i="1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1) </a:t>
                      </a:r>
                      <a:r>
                        <a:rPr lang="en-US" altLang="ja-JP" sz="1600" b="0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ja-JP" altLang="en-US" sz="1600" b="0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经验获字节运营</a:t>
                      </a:r>
                      <a:r>
                        <a:rPr lang="en-US" sz="1600" b="0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</a:t>
                      </a:r>
                      <a:r>
                        <a:rPr 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‼️</a:t>
                      </a:r>
                      <a:r>
                        <a:rPr lang="ja-JP" altLang="en-US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altLang="ja-JP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Получила </a:t>
                      </a:r>
                      <a:r>
                        <a:rPr lang="ru-RU" sz="1600" b="0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оффер</a:t>
                      </a: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en-US" sz="1600" b="0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ByteDance </a:t>
                      </a: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  нулем опыта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!!»).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</a:t>
                      </a:r>
                      <a:r>
                        <a:rPr lang="ru-RU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600" b="0" i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个月</a:t>
                      </a:r>
                      <a:r>
                        <a:rPr lang="en-US" sz="1600" b="0" i="1" u="sng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双非逆袭</a:t>
                      </a:r>
                      <a:r>
                        <a:rPr lang="ru-RU" sz="1600" b="0" i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985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‼️419</a:t>
                      </a:r>
                      <a:r>
                        <a:rPr lang="en-US" sz="1600" b="0" i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分考研经验贴来啦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(«За 6 месяцев </a:t>
                      </a:r>
                      <a:r>
                        <a:rPr lang="ru-RU" sz="1600" b="0" i="1" u="sng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из провинциального вуза штурмом взял 985-й</a:t>
                      </a:r>
                      <a:r>
                        <a:rPr lang="ru-RU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!! Пост об опыте поступления в магистратуру: 419 баллов»)</a:t>
                      </a:r>
                      <a:endParaRPr lang="ru-RU" sz="16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3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Провокация универсальна, но тематика расходится: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 когнитивный диссонанс; 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  острые социальные тревоги молодёжи (возрастная дискриминация, классовое неравенство)</a:t>
                      </a:r>
                      <a:endParaRPr lang="ru-RU" sz="1600" i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RU: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Алла Пугачева назвала себя единственной звездой Союза и России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ru-RU" sz="1600" b="0" i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ja-JP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为啥</a:t>
                      </a:r>
                      <a:r>
                        <a:rPr lang="en-US" altLang="ja-JP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r>
                        <a:rPr lang="ja-JP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岁比较危险，按理说应该是经验丰富 </a:t>
                      </a:r>
                      <a:r>
                        <a:rPr lang="ru-RU" altLang="ja-JP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Почему 35 лет – опасный возраст, хотя по логике это должен быть пик карьерного опыта?»)</a:t>
                      </a:r>
                      <a:endParaRPr lang="ru-RU" sz="1600" i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04211"/>
                  </a:ext>
                </a:extLst>
              </a:tr>
              <a:tr h="468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ru-RU" sz="160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адресация к читателю через</a:t>
                      </a:r>
                      <a:r>
                        <a:rPr lang="en-US" sz="160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формы личных и  притяжательных местоимений</a:t>
                      </a:r>
                      <a:endParaRPr lang="ru-RU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разнообразие форм личного обращения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RU: 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Как создать распорядок дня, который 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</a:t>
                      </a: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будете выполнять?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Эстетик тумбочка для </a:t>
                      </a:r>
                      <a:r>
                        <a:rPr lang="ru-RU" sz="1600" b="1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твоей</a:t>
                      </a:r>
                      <a:r>
                        <a:rPr lang="ru-RU" sz="1600" b="1" i="1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rOOm</a:t>
                      </a:r>
                      <a:r>
                        <a:rPr lang="en-US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ru-RU" sz="16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ZH: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ja-JP" alt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你 </a:t>
                      </a:r>
                      <a:r>
                        <a:rPr lang="en-US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ты»)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ja-JP" alt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大家 </a:t>
                      </a:r>
                      <a:r>
                        <a:rPr lang="en-US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все»)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1600" b="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uu</a:t>
                      </a:r>
                      <a:r>
                        <a:rPr lang="ja-JP" alt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们 </a:t>
                      </a:r>
                      <a:r>
                        <a:rPr lang="en-US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ребята»)</a:t>
                      </a:r>
                      <a:r>
                        <a:rPr 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ja-JP" altLang="en-US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职场人 </a:t>
                      </a:r>
                      <a:r>
                        <a:rPr lang="en-US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(«</a:t>
                      </a:r>
                      <a:r>
                        <a:rPr lang="ru-RU" altLang="ja-JP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работники</a:t>
                      </a:r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»)</a:t>
                      </a: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34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глагольные формы 1-го лица значимо чаще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личный опыт – центральный аргумент доверия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ZH: </a:t>
                      </a:r>
                      <a:r>
                        <a:rPr lang="ja-JP" altLang="en-US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发现</a:t>
                      </a:r>
                      <a:r>
                        <a:rPr lang="ja-JP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我</a:t>
                      </a:r>
                      <a:r>
                        <a:rPr lang="ja-JP" altLang="en-US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学了</a:t>
                      </a:r>
                      <a:r>
                        <a:rPr lang="ja-JP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两年的英语全是垃圾</a:t>
                      </a:r>
                      <a:r>
                        <a:rPr lang="ru-RU" altLang="ja-JP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(«</a:t>
                      </a:r>
                      <a:r>
                        <a:rPr lang="ru-RU" altLang="ja-JP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lang="ru-RU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бнаружила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(что) я два года </a:t>
                      </a:r>
                      <a:r>
                        <a:rPr lang="ru-RU" sz="1600" b="1" i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учила</a:t>
                      </a:r>
                      <a:r>
                        <a:rPr lang="ru-RU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плохой английский»)</a:t>
                      </a:r>
                      <a:endParaRPr lang="ru-RU" sz="1600" i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6644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01C2953-73EB-BF2F-48B5-17551BE46603}"/>
              </a:ext>
            </a:extLst>
          </p:cNvPr>
          <p:cNvSpPr txBox="1"/>
          <p:nvPr/>
        </p:nvSpPr>
        <p:spPr>
          <a:xfrm>
            <a:off x="487492" y="6450706"/>
            <a:ext cx="1031385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300" b="0" i="1" kern="1200" baseline="30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ru-RU" sz="1300" i="1" kern="1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 Y. Assessment and Optimization of Social Media Marketing Strategies: A Case Study of 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Xiaohongshu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</a:t>
            </a:r>
            <a:r>
              <a:rPr lang="en-US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SciTePress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– P. 680 </a:t>
            </a:r>
            <a:endParaRPr lang="ru-RU" sz="1300" b="0" i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1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64701" y="2440032"/>
            <a:ext cx="5939017" cy="4135664"/>
          </a:xfrm>
        </p:spPr>
        <p:txBody>
          <a:bodyPr>
            <a:noAutofit/>
          </a:bodyPr>
          <a:lstStyle/>
          <a:p>
            <a:pPr marL="285750" lvl="0" indent="-285750">
              <a:buSzPct val="85000"/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традиционные китайские кавычки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「」/『』,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кавычки  для названий произведений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разные виды скобок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【】/ </a:t>
            </a:r>
            <a:r>
              <a:rPr lang="en-US" sz="1600" dirty="0"/>
              <a:t>〖〗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lvl="0" indent="-285750">
              <a:buSzPct val="85000"/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Декоративные символы (тильда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визуальные маркеры тональности, придающее высказыванию легкий, дружелюбный или игривый тон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今天的护肤分享来啦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«Сегодня делюсь своим уходом за кожей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»);</a:t>
            </a:r>
          </a:p>
          <a:p>
            <a:pPr marL="285750" lvl="0" indent="-285750">
              <a:buSzPct val="85000"/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Употребление диалектизмов вместо литературных форм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为啥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为什么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«почему»)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что делает текст более неформальным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SzPct val="85000"/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Модальные частицы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呀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吖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哦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捏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передают субъективное отношение автора, придавая заголовку дружелюбный оттенок;</a:t>
            </a:r>
          </a:p>
          <a:p>
            <a:pPr marL="285750" lvl="0" indent="-285750">
              <a:buSzPct val="85000"/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Уменьшительно-ласкательный оттенок через замену лексемы      на основе фонетического совпадения с диалектной формой              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 木 有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 没 有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(«так или не так?»)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08F4B-97E7-BB1A-534C-D0A6E2512ADA}"/>
              </a:ext>
            </a:extLst>
          </p:cNvPr>
          <p:cNvSpPr txBox="1"/>
          <p:nvPr/>
        </p:nvSpPr>
        <p:spPr>
          <a:xfrm>
            <a:off x="443024" y="2440032"/>
            <a:ext cx="5044662" cy="484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Фразеологизмы </a:t>
            </a:r>
            <a:r>
              <a:rPr lang="ru-RU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(с нуля, своими руками) 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привлекают широкую аудиторию, гарантируя доступность контента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Диминутивы </a:t>
            </a:r>
            <a:r>
              <a:rPr lang="ru-RU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(песик, тортик, кирпичиков)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выстраивают доверие с аудиторией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рием анафоры </a:t>
            </a:r>
            <a:r>
              <a:rPr lang="en-US" sz="1600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Твоя жизнь – твоя уникальная </a:t>
            </a:r>
            <a:r>
              <a:rPr lang="ru-RU" sz="1600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помада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600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Репрезентация словосочетания через зависимое слово – экономия слов в заголовке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(Изучаем английский в ТГ)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Асиндетон без знаков препинания между однородными членами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(Электронная коммерция динамик аудио плакат баннер)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привлечения алгоритмов и увеличения охвата поисковых запросов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Текст 1">
            <a:extLst>
              <a:ext uri="{FF2B5EF4-FFF2-40B4-BE49-F238E27FC236}">
                <a16:creationId xmlns:a16="http://schemas.microsoft.com/office/drawing/2014/main" id="{151C6210-C069-C151-4F58-497381EC5859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D6718C09-0ACC-2784-836B-F3FC25948E9C}"/>
              </a:ext>
            </a:extLst>
          </p:cNvPr>
          <p:cNvSpPr txBox="1">
            <a:spLocks/>
          </p:cNvSpPr>
          <p:nvPr/>
        </p:nvSpPr>
        <p:spPr>
          <a:xfrm>
            <a:off x="3611562" y="548716"/>
            <a:ext cx="2514917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FEB5EE8E-3CC5-8A8B-E8B6-7CA0FB9C8DAF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Лингвистические особенности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 протокола</a:t>
            </a:r>
          </a:p>
        </p:txBody>
      </p:sp>
      <p:sp>
        <p:nvSpPr>
          <p:cNvPr id="20" name="Заголовок 3">
            <a:extLst>
              <a:ext uri="{FF2B5EF4-FFF2-40B4-BE49-F238E27FC236}">
                <a16:creationId xmlns:a16="http://schemas.microsoft.com/office/drawing/2014/main" id="{7943129D-5125-F285-37BE-ACEBEE4E871A}"/>
              </a:ext>
            </a:extLst>
          </p:cNvPr>
          <p:cNvSpPr txBox="1">
            <a:spLocks/>
          </p:cNvSpPr>
          <p:nvPr/>
        </p:nvSpPr>
        <p:spPr>
          <a:xfrm>
            <a:off x="457506" y="1360920"/>
            <a:ext cx="9221146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ЛИНГВИСТИЧЕСКИЕ ОСОБЕННОСТИ ВНЕ ПРОТОКОЛА </a:t>
            </a:r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40EF8CD8-E194-85F9-433B-D3B3C5E65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97353"/>
              </p:ext>
            </p:extLst>
          </p:nvPr>
        </p:nvGraphicFramePr>
        <p:xfrm>
          <a:off x="443024" y="1924585"/>
          <a:ext cx="1129147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1511">
                  <a:extLst>
                    <a:ext uri="{9D8B030D-6E8A-4147-A177-3AD203B41FA5}">
                      <a16:colId xmlns:a16="http://schemas.microsoft.com/office/drawing/2014/main" val="906655914"/>
                    </a:ext>
                  </a:extLst>
                </a:gridCol>
                <a:gridCol w="6219959">
                  <a:extLst>
                    <a:ext uri="{9D8B030D-6E8A-4147-A177-3AD203B41FA5}">
                      <a16:colId xmlns:a16="http://schemas.microsoft.com/office/drawing/2014/main" val="374007816"/>
                    </a:ext>
                  </a:extLst>
                </a:gridCol>
              </a:tblGrid>
              <a:tr h="3854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 (Pinterest)</a:t>
                      </a:r>
                    </a:p>
                  </a:txBody>
                  <a:tcPr marR="121920" marT="76200" marB="76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 (Xiaohongshu)</a:t>
                      </a:r>
                    </a:p>
                  </a:txBody>
                  <a:tcPr marL="121920" marR="121920" marT="76200" marB="76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99998"/>
                  </a:ext>
                </a:extLst>
              </a:tr>
            </a:tbl>
          </a:graphicData>
        </a:graphic>
      </p:graphicFrame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8236846-4056-82E1-5FD1-CAE555077787}"/>
              </a:ext>
            </a:extLst>
          </p:cNvPr>
          <p:cNvCxnSpPr>
            <a:cxnSpLocks/>
          </p:cNvCxnSpPr>
          <p:nvPr/>
        </p:nvCxnSpPr>
        <p:spPr>
          <a:xfrm>
            <a:off x="5704450" y="1917554"/>
            <a:ext cx="0" cy="4574686"/>
          </a:xfrm>
          <a:prstGeom prst="line">
            <a:avLst/>
          </a:prstGeom>
          <a:ln>
            <a:solidFill>
              <a:srgbClr val="B6C3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542097" y="2164259"/>
            <a:ext cx="963314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Добросклонская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Т. Г.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Медиадискурс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объект лингвистики и межкультурной коммуникации / Т. Г.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Добросклонская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М. : Вестник Московского университета. Серия 10. Журналистика. – 2006. – № 2. – С. 20–33.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Захаров, В. П. Корпусная лингвистика : учебник для студентов направления «Лингвистика» / В. П. Захаров, С. Ю. Богданова. – 2-е изд.,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перераб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 доп. – СПб. : СПбГУ, 2013. – 234 с.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Стернин, И. А. Понятие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контрастивного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анализа и методика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контрастивного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описания /       И. А. Стернин // М. : «Восток-Запад». – 2006. – 206 с.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 Y. Assessment and Optimization of Social Media Marketing Strategies: A Case Study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Xiaohongshu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Proceedings of the 1st International Conference on Engineering Management, Information Technology and Intelligence.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SciTePress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– P. 679–684. – DOI: 10.5220/00129683000045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 txBox="1">
            <a:spLocks/>
          </p:cNvSpPr>
          <p:nvPr/>
        </p:nvSpPr>
        <p:spPr>
          <a:xfrm>
            <a:off x="604442" y="1476991"/>
            <a:ext cx="9221146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БИБЛИОГРАФИЯ</a:t>
            </a:r>
          </a:p>
        </p:txBody>
      </p:sp>
      <p:sp>
        <p:nvSpPr>
          <p:cNvPr id="1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 txBox="1">
            <a:spLocks/>
          </p:cNvSpPr>
          <p:nvPr/>
        </p:nvSpPr>
        <p:spPr>
          <a:xfrm>
            <a:off x="1296089" y="540900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Фундаментальная и прикладная лингвистика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 txBox="1">
            <a:spLocks/>
          </p:cNvSpPr>
          <p:nvPr/>
        </p:nvSpPr>
        <p:spPr>
          <a:xfrm>
            <a:off x="3611562" y="540900"/>
            <a:ext cx="2380163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Мультиязыковое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исследование лингвистических особенностей заголовков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постов в социальных сетях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 txBox="1">
            <a:spLocks/>
          </p:cNvSpPr>
          <p:nvPr/>
        </p:nvSpPr>
        <p:spPr>
          <a:xfrm>
            <a:off x="6412292" y="548716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Библиографический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</a:t>
            </a:r>
          </a:p>
        </p:txBody>
      </p:sp>
    </p:spTree>
    <p:extLst>
      <p:ext uri="{BB962C8B-B14F-4D97-AF65-F5344CB8AC3E}">
        <p14:creationId xmlns:p14="http://schemas.microsoft.com/office/powerpoint/2010/main" val="1463767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18</a:t>
            </a:fld>
            <a:endParaRPr lang="ru-RU" sz="200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8FC5D1-C06C-E849-9E8B-5E67DDC48923}"/>
              </a:ext>
            </a:extLst>
          </p:cNvPr>
          <p:cNvSpPr txBox="1"/>
          <p:nvPr/>
        </p:nvSpPr>
        <p:spPr>
          <a:xfrm>
            <a:off x="517199" y="2367263"/>
            <a:ext cx="2808710" cy="169277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66643-1ABC-3D4D-9BCC-76A74AE83A92}"/>
              </a:ext>
            </a:extLst>
          </p:cNvPr>
          <p:cNvSpPr txBox="1"/>
          <p:nvPr/>
        </p:nvSpPr>
        <p:spPr>
          <a:xfrm>
            <a:off x="1057816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5912A7-8DCC-AF4C-82B2-7283ED0B4053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16C3C5-5235-EC47-85FA-7C1895E625F8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51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 txBox="1">
            <a:spLocks/>
          </p:cNvSpPr>
          <p:nvPr/>
        </p:nvSpPr>
        <p:spPr>
          <a:xfrm>
            <a:off x="688004" y="1546891"/>
            <a:ext cx="9221146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ru-RU" b="1" dirty="0"/>
              <a:t>ВЫВОДЫ</a:t>
            </a:r>
          </a:p>
        </p:txBody>
      </p:sp>
      <p:sp>
        <p:nvSpPr>
          <p:cNvPr id="52" name="Заголовок 3">
            <a:extLst>
              <a:ext uri="{FF2B5EF4-FFF2-40B4-BE49-F238E27FC236}">
                <a16:creationId xmlns:a16="http://schemas.microsoft.com/office/drawing/2014/main" id="{DEBFC62C-9588-F544-918B-2104A12C933E}"/>
              </a:ext>
            </a:extLst>
          </p:cNvPr>
          <p:cNvSpPr txBox="1">
            <a:spLocks/>
          </p:cNvSpPr>
          <p:nvPr/>
        </p:nvSpPr>
        <p:spPr>
          <a:xfrm>
            <a:off x="818709" y="1180052"/>
            <a:ext cx="11373290" cy="7770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HSE Sans" panose="02000000000000000000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65754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schemas.microsoft.com/office/infopath/2007/PartnerControls"/>
    <ds:schemaRef ds:uri="9875bd71-cde8-496c-a136-433f55d5e6d0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e96afe77-3acb-4328-97fc-408e1bde3ecd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2977</Words>
  <Application>Microsoft Office PowerPoint</Application>
  <PresentationFormat>Широкоэкранный</PresentationFormat>
  <Paragraphs>321</Paragraphs>
  <Slides>18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HSE Sans</vt:lpstr>
      <vt:lpstr>Symbol</vt:lpstr>
      <vt:lpstr>Times New Roman</vt:lpstr>
      <vt:lpstr>Office Theme</vt:lpstr>
      <vt:lpstr>Мультиязыковое исследование лингвистических особенностей заголовков постов в социальных сетях  (на примере русскоязычного сегмента Pinterest и китайской платформы Xiaohongshu)</vt:lpstr>
      <vt:lpstr>Презентация PowerPoint</vt:lpstr>
      <vt:lpstr>Презентация PowerPoint</vt:lpstr>
      <vt:lpstr>ЭМПИРИЧЕСКИЙ МАТЕРИАЛ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Анна Федина</dc:creator>
  <cp:lastModifiedBy>Анна Федина</cp:lastModifiedBy>
  <cp:revision>65</cp:revision>
  <cp:lastPrinted>2021-11-11T13:08:42Z</cp:lastPrinted>
  <dcterms:created xsi:type="dcterms:W3CDTF">2021-11-11T08:52:47Z</dcterms:created>
  <dcterms:modified xsi:type="dcterms:W3CDTF">2026-04-22T20:32:26Z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